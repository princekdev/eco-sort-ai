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85" r:id="rId3"/>
    <p:sldId id="286" r:id="rId4"/>
    <p:sldId id="257" r:id="rId5"/>
    <p:sldId id="258" r:id="rId6"/>
    <p:sldId id="259" r:id="rId7"/>
    <p:sldId id="260" r:id="rId8"/>
    <p:sldId id="261" r:id="rId9"/>
    <p:sldId id="262" r:id="rId10"/>
    <p:sldId id="274" r:id="rId11"/>
    <p:sldId id="275" r:id="rId12"/>
    <p:sldId id="276" r:id="rId13"/>
    <p:sldId id="279" r:id="rId14"/>
    <p:sldId id="266" r:id="rId15"/>
    <p:sldId id="283" r:id="rId16"/>
    <p:sldId id="284" r:id="rId17"/>
    <p:sldId id="287" r:id="rId18"/>
    <p:sldId id="288" r:id="rId19"/>
    <p:sldId id="289" r:id="rId20"/>
    <p:sldId id="290" r:id="rId21"/>
    <p:sldId id="264" r:id="rId22"/>
    <p:sldId id="265" r:id="rId23"/>
    <p:sldId id="267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9235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79D08-C309-C024-74BF-C59C64BA8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FDFACA-F527-37E3-B571-B9D3A90579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3B75A6-F88C-EE3C-B9D3-7D40769F9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226C2-6768-421E-2247-3E0C00E048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9810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E4E53-5385-54EC-6A36-6F17EE80C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01DDFC-4D72-2F07-D1CC-8FB45CD923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0DEE87-E672-8E02-A367-F09455E9D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5C8F2-3129-2681-C817-22BF75B74D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1142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948E0-D152-1C4C-864B-594F50650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84E57B-02FF-4539-7092-BAB9623271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C0F9F0-ECD7-2B8E-3B1A-0B251EDEC0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7E78C-2C80-A0AC-2FCF-F54DFFF041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9687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05240-5509-E213-69E4-BA828DF1D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BBB855-54C0-2496-6C25-320F516A93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0A3D34-ACD9-F097-D059-5EAE4F30D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BCEF13-75A8-BF97-201A-6F16005E91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1709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4778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A63FD-5CAA-5949-B16C-B0570BE30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2DC7AD-F336-25C3-0415-83998939DB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15B429-6983-FEC5-7B09-F85814DF7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9CA0A-07D8-05E7-D8A0-EFB2166E79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383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EC3FB-CB22-A578-23BF-C48A08DCF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76CD97-C9D6-743E-F846-2B13AF2A46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4D8EAB-B5A0-FF56-16BC-4226C3B9D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C44A4-F15A-246E-911B-4D9C0C4FBB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9784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zlZwqg_tTG6xeGHuO7voHrE9g2Mywr3L/view?usp=sharing" TargetMode="External"/><Relationship Id="rId2" Type="http://schemas.openxmlformats.org/officeDocument/2006/relationships/hyperlink" Target="https://github.com/princekdev/eco-sort-ai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9.png"/><Relationship Id="rId3" Type="http://schemas.openxmlformats.org/officeDocument/2006/relationships/image" Target="../media/image52.png"/><Relationship Id="rId7" Type="http://schemas.openxmlformats.org/officeDocument/2006/relationships/image" Target="../media/image54.png"/><Relationship Id="rId12" Type="http://schemas.openxmlformats.org/officeDocument/2006/relationships/image" Target="../media/image5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57.png"/><Relationship Id="rId5" Type="http://schemas.openxmlformats.org/officeDocument/2006/relationships/image" Target="../media/image53.png"/><Relationship Id="rId10" Type="http://schemas.openxmlformats.org/officeDocument/2006/relationships/image" Target="../media/image56.png"/><Relationship Id="rId4" Type="http://schemas.openxmlformats.org/officeDocument/2006/relationships/image" Target="../media/image4.png"/><Relationship Id="rId9" Type="http://schemas.openxmlformats.org/officeDocument/2006/relationships/image" Target="../media/image5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9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2D6A4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4023360" cy="4023360"/>
          </a:xfrm>
          <a:prstGeom prst="ellipse">
            <a:avLst/>
          </a:prstGeom>
          <a:solidFill>
            <a:srgbClr val="2D6A4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3840480"/>
            <a:ext cx="2377440" cy="2377440"/>
          </a:xfrm>
          <a:prstGeom prst="ellipse">
            <a:avLst/>
          </a:prstGeom>
          <a:solidFill>
            <a:srgbClr val="52B788">
              <a:alpha val="30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412480" y="1097280"/>
            <a:ext cx="329184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68580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52B788">
              <a:alpha val="22000"/>
            </a:srgbClr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6858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12 · RESPONSIBLE CONSUMPTION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22960" y="196596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EcoSort AI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868680" y="3246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Waste Segregation &amp; Sustainability Assistant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6868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Waste.  Sort Smarter.  Build a Sustainable Future.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68680" y="4572000"/>
            <a:ext cx="5486400" cy="0"/>
          </a:xfrm>
          <a:prstGeom prst="line">
            <a:avLst/>
          </a:prstGeom>
          <a:noFill/>
          <a:ln w="12700">
            <a:solidFill>
              <a:srgbClr val="3E6B5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48006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Virtual Internship
</a:t>
            </a:r>
            <a:r>
              <a:rPr lang="en-US" sz="1200" dirty="0">
                <a:solidFill>
                  <a:srgbClr val="B7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collaboration with IBM SkillsBuild &amp; AICTE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68680" y="5806440"/>
            <a:ext cx="3749040" cy="713232"/>
          </a:xfrm>
          <a:prstGeom prst="roundRect">
            <a:avLst>
              <a:gd name="adj" fmla="val 12821"/>
            </a:avLst>
          </a:prstGeom>
          <a:solidFill>
            <a:srgbClr val="234B37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280" y="5806440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 Kumar
</a:t>
            </a:r>
            <a:r>
              <a:rPr lang="en-US" sz="1150" dirty="0">
                <a:solidFill>
                  <a:srgbClr val="B7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NIAMT, Ranchi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56E838-1021-8BC8-E8F6-DF7E9F1FB871}"/>
              </a:ext>
            </a:extLst>
          </p:cNvPr>
          <p:cNvSpPr txBox="1"/>
          <p:nvPr/>
        </p:nvSpPr>
        <p:spPr>
          <a:xfrm>
            <a:off x="746449" y="468506"/>
            <a:ext cx="992777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                                                                                   </a:t>
            </a:r>
          </a:p>
          <a:p>
            <a:endParaRPr lang="en-US" b="1" dirty="0"/>
          </a:p>
          <a:p>
            <a:r>
              <a:rPr lang="en-US" b="1" dirty="0"/>
              <a:t>Improper waste segregation</a:t>
            </a:r>
            <a:r>
              <a:rPr lang="en-US" dirty="0"/>
              <a:t> is a growing challenge for households, students, schools, colleges, offices, and local communities. Many people are unsure about </a:t>
            </a:r>
            <a:r>
              <a:rPr lang="en-US" b="1" dirty="0"/>
              <a:t>which category a waste item belongs to, whether it can be recycled or reused, and how special waste should be disposed of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This lack of simple and accessible guidance often results in </a:t>
            </a:r>
            <a:r>
              <a:rPr lang="en-US" b="1" dirty="0"/>
              <a:t>incorrect segregation, reduced recycling efficiency, increased landfill waste, and environmental pollution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key challenge is not just the availability of information, but making waste-management guidance </a:t>
            </a:r>
            <a:r>
              <a:rPr lang="en-US" b="1" dirty="0"/>
              <a:t>simple, understandable, accessible, and actionable</a:t>
            </a:r>
            <a:r>
              <a:rPr lang="en-US" dirty="0"/>
              <a:t> for everyday users.</a:t>
            </a:r>
          </a:p>
          <a:p>
            <a:endParaRPr lang="en-US" dirty="0"/>
          </a:p>
          <a:p>
            <a:r>
              <a:rPr lang="en-US" b="1" dirty="0" err="1"/>
              <a:t>EcoSort</a:t>
            </a:r>
            <a:r>
              <a:rPr lang="en-US" b="1" dirty="0"/>
              <a:t> AI addresses this gap by using AI-assisted guidance to help users identify waste, choose appropriate disposal or recycling actions, and develop more responsible and sustainable waste-management habits.</a:t>
            </a:r>
            <a:endParaRPr lang="en-US" dirty="0"/>
          </a:p>
          <a:p>
            <a:pPr>
              <a:buNone/>
            </a:pPr>
            <a:endParaRPr lang="en-US" b="1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865D149-9298-B73B-76F0-AE88BEBD3A27}"/>
              </a:ext>
            </a:extLst>
          </p:cNvPr>
          <p:cNvSpPr/>
          <p:nvPr/>
        </p:nvSpPr>
        <p:spPr>
          <a:xfrm>
            <a:off x="4217436" y="137269"/>
            <a:ext cx="2985796" cy="662473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Problem Statement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7177BB-F310-F263-BE39-22C4A2E10B35}"/>
              </a:ext>
            </a:extLst>
          </p:cNvPr>
          <p:cNvSpPr txBox="1"/>
          <p:nvPr/>
        </p:nvSpPr>
        <p:spPr>
          <a:xfrm>
            <a:off x="746449" y="5583999"/>
            <a:ext cx="2015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GitHub Repository: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F056DF-84F6-290B-59CB-C56E8DCFB4D5}"/>
              </a:ext>
            </a:extLst>
          </p:cNvPr>
          <p:cNvSpPr txBox="1"/>
          <p:nvPr/>
        </p:nvSpPr>
        <p:spPr>
          <a:xfrm>
            <a:off x="2549589" y="5556008"/>
            <a:ext cx="4205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https://github.com/princekdev/eco-sort-ai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E632A3-9F23-B01D-CF03-E21BBDEC158D}"/>
              </a:ext>
            </a:extLst>
          </p:cNvPr>
          <p:cNvSpPr txBox="1"/>
          <p:nvPr/>
        </p:nvSpPr>
        <p:spPr>
          <a:xfrm>
            <a:off x="746449" y="5942455"/>
            <a:ext cx="10426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Working Demo: </a:t>
            </a:r>
            <a:r>
              <a:rPr lang="en-US" dirty="0">
                <a:hlinkClick r:id="rId3"/>
              </a:rPr>
              <a:t>https://drive.google.com/file/d/1zlZwqg_tTG6xeGHuO7voHrE9g2Mywr3L/view?usp=sharing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637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694C74-7F9F-95A7-5C47-F4B9D457B3F1}"/>
              </a:ext>
            </a:extLst>
          </p:cNvPr>
          <p:cNvSpPr txBox="1"/>
          <p:nvPr/>
        </p:nvSpPr>
        <p:spPr>
          <a:xfrm>
            <a:off x="267479" y="625151"/>
            <a:ext cx="11924521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r>
              <a:rPr lang="en-US" sz="1600" b="1" dirty="0" err="1"/>
              <a:t>EcoSort</a:t>
            </a:r>
            <a:r>
              <a:rPr lang="en-US" sz="1600" b="1" dirty="0"/>
              <a:t> AI</a:t>
            </a:r>
            <a:r>
              <a:rPr lang="en-US" sz="1600" dirty="0"/>
              <a:t> is a web-based AI-powered Waste Segregation and Sustainability Assistant that helps users make better everyday waste-management decisions.</a:t>
            </a:r>
          </a:p>
          <a:p>
            <a:endParaRPr lang="en-US" dirty="0"/>
          </a:p>
          <a:p>
            <a:endParaRPr lang="en-US" b="1" dirty="0"/>
          </a:p>
          <a:p>
            <a:r>
              <a:rPr lang="en-US" sz="1600" dirty="0"/>
              <a:t>Users enter a waste item in natural language, such as </a:t>
            </a:r>
            <a:r>
              <a:rPr lang="en-US" sz="1600" i="1" dirty="0"/>
              <a:t>“plastic water bottle.”</a:t>
            </a:r>
            <a:r>
              <a:rPr lang="en-US" sz="1600" dirty="0"/>
              <a:t> The system identifies its waste category and provides recommended actions, recycling/reuse guidance, disposal information, and sustainability tips using </a:t>
            </a:r>
            <a:r>
              <a:rPr lang="en-US" sz="1600" b="1" dirty="0"/>
              <a:t>keyword and fuzzy matching</a:t>
            </a:r>
            <a:r>
              <a:rPr lang="en-US" sz="1600" dirty="0"/>
              <a:t>.</a:t>
            </a:r>
          </a:p>
          <a:p>
            <a:endParaRPr lang="en-US" dirty="0"/>
          </a:p>
          <a:p>
            <a:endParaRPr lang="en-US" b="1" dirty="0"/>
          </a:p>
          <a:p>
            <a:r>
              <a:rPr lang="en-US" sz="1600" dirty="0"/>
              <a:t>Users can ask questions about </a:t>
            </a:r>
            <a:r>
              <a:rPr lang="en-US" sz="1600" b="1" dirty="0"/>
              <a:t>recycling, composting, e-waste, hazardous waste, sustainable habits, 5 Rs, and SDGs</a:t>
            </a:r>
            <a:r>
              <a:rPr lang="en-US" sz="1600" dirty="0"/>
              <a:t>. The system provides structured guidance from a curated sustainability knowledge base.</a:t>
            </a:r>
          </a:p>
          <a:p>
            <a:endParaRPr lang="en-US" dirty="0"/>
          </a:p>
          <a:p>
            <a:endParaRPr lang="en-US" b="1" dirty="0"/>
          </a:p>
          <a:p>
            <a:r>
              <a:rPr lang="en-US" sz="1600" b="1" dirty="0"/>
              <a:t>User Input → AI Understanding → Waste Classification → Recommended Action → Sustainability Guidance</a:t>
            </a:r>
            <a:endParaRPr lang="en-US" sz="1600" dirty="0"/>
          </a:p>
          <a:p>
            <a:r>
              <a:rPr lang="en-US" sz="1600" dirty="0"/>
              <a:t>The current prototype operates in </a:t>
            </a:r>
            <a:r>
              <a:rPr lang="en-US" sz="1600" b="1" dirty="0"/>
              <a:t>AI Demonstration Mode</a:t>
            </a:r>
            <a:r>
              <a:rPr lang="en-US" sz="1600" dirty="0"/>
              <a:t> using a curated local knowledge base without external AI APIs.</a:t>
            </a:r>
          </a:p>
          <a:p>
            <a:endParaRPr lang="en-US" dirty="0"/>
          </a:p>
          <a:p>
            <a:endParaRPr lang="en-US" b="1" dirty="0"/>
          </a:p>
          <a:p>
            <a:r>
              <a:rPr lang="en-US" sz="1600" b="1" dirty="0"/>
              <a:t>IBM BOB</a:t>
            </a:r>
            <a:r>
              <a:rPr lang="en-US" sz="1600" dirty="0"/>
              <a:t> supported project ideation, development, refinement, testing, and Responsible AI review. The solution emphasizes </a:t>
            </a:r>
            <a:r>
              <a:rPr lang="en-US" sz="1600" b="1" dirty="0"/>
              <a:t>transparency, privacy, ethical use, uncertainty, and awareness of local waste-management guidelines</a:t>
            </a:r>
            <a:r>
              <a:rPr lang="en-US" sz="1600" dirty="0"/>
              <a:t>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0DD647B-734F-1A2E-026A-43D753C794F1}"/>
              </a:ext>
            </a:extLst>
          </p:cNvPr>
          <p:cNvSpPr/>
          <p:nvPr/>
        </p:nvSpPr>
        <p:spPr>
          <a:xfrm>
            <a:off x="4074368" y="195943"/>
            <a:ext cx="3713583" cy="48519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/>
              <a:t>Detailed Solution &amp; AI Elements</a:t>
            </a:r>
            <a:endParaRPr lang="en-US" b="1" dirty="0"/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AD98B1EE-0ADF-6109-6DB4-9A1517957DFF}"/>
              </a:ext>
            </a:extLst>
          </p:cNvPr>
          <p:cNvSpPr/>
          <p:nvPr/>
        </p:nvSpPr>
        <p:spPr>
          <a:xfrm>
            <a:off x="360785" y="1600198"/>
            <a:ext cx="1651518" cy="289249"/>
          </a:xfrm>
          <a:prstGeom prst="flowChart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Waste Checker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0A397E62-93FF-8E36-4F29-1D4DD602D7C8}"/>
              </a:ext>
            </a:extLst>
          </p:cNvPr>
          <p:cNvSpPr/>
          <p:nvPr/>
        </p:nvSpPr>
        <p:spPr>
          <a:xfrm>
            <a:off x="360785" y="4710360"/>
            <a:ext cx="2886268" cy="289249"/>
          </a:xfrm>
          <a:prstGeom prst="flowChart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/>
              <a:t>IBM BOB &amp; Responsible AI</a:t>
            </a:r>
            <a:endParaRPr lang="en-US" b="1" dirty="0"/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DBC198A7-7BE8-2BC1-2F12-067BE53B5D06}"/>
              </a:ext>
            </a:extLst>
          </p:cNvPr>
          <p:cNvSpPr/>
          <p:nvPr/>
        </p:nvSpPr>
        <p:spPr>
          <a:xfrm>
            <a:off x="360785" y="3643602"/>
            <a:ext cx="1651518" cy="289249"/>
          </a:xfrm>
          <a:prstGeom prst="flowChart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/>
              <a:t>AI Workflow</a:t>
            </a:r>
            <a:endParaRPr lang="en-US" b="1" dirty="0"/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419DFA4F-59F3-39D7-78D3-B2AF6C267FBD}"/>
              </a:ext>
            </a:extLst>
          </p:cNvPr>
          <p:cNvSpPr/>
          <p:nvPr/>
        </p:nvSpPr>
        <p:spPr>
          <a:xfrm>
            <a:off x="360785" y="2621900"/>
            <a:ext cx="2886268" cy="289249"/>
          </a:xfrm>
          <a:prstGeom prst="flowChart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AI Sustainability Assistant</a:t>
            </a:r>
          </a:p>
        </p:txBody>
      </p:sp>
    </p:spTree>
    <p:extLst>
      <p:ext uri="{BB962C8B-B14F-4D97-AF65-F5344CB8AC3E}">
        <p14:creationId xmlns:p14="http://schemas.microsoft.com/office/powerpoint/2010/main" val="1335132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Target Users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often don’t know how to correctly manage everyday waste: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2996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01168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category does an item belong to?</a:t>
            </a:r>
            <a:endParaRPr lang="en-US" sz="13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0545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248716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be recycled or reused?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80944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2962656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special waste be handled?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56432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3438144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sustainable alternative can be chosen?</a:t>
            </a:r>
            <a:endParaRPr lang="en-US" sz="1350" dirty="0"/>
          </a:p>
        </p:txBody>
      </p:sp>
      <p:sp>
        <p:nvSpPr>
          <p:cNvPr id="14" name="Shape 8"/>
          <p:cNvSpPr/>
          <p:nvPr/>
        </p:nvSpPr>
        <p:spPr>
          <a:xfrm>
            <a:off x="5989320" y="1508760"/>
            <a:ext cx="571500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8E2"/>
            </a:solidFill>
            <a:prstDash val="solid"/>
          </a:ln>
          <a:effectLst>
            <a:outerShdw blurRad="1016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5" name="Text 9"/>
          <p:cNvSpPr/>
          <p:nvPr/>
        </p:nvSpPr>
        <p:spPr>
          <a:xfrm>
            <a:off x="6263640" y="16916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CONSEQUENCE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6607683" y="2148840"/>
            <a:ext cx="603504" cy="603504"/>
          </a:xfrm>
          <a:prstGeom prst="ellipse">
            <a:avLst/>
          </a:prstGeom>
          <a:solidFill>
            <a:srgbClr val="FBEAE5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471" y="2284628"/>
            <a:ext cx="331927" cy="33192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263640" y="2852928"/>
            <a:ext cx="129159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</a:t>
            </a:r>
            <a:endParaRPr lang="en-US" sz="9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4646" y="2331720"/>
            <a:ext cx="201168" cy="201168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7899273" y="2148840"/>
            <a:ext cx="603504" cy="603504"/>
          </a:xfrm>
          <a:prstGeom prst="ellipse">
            <a:avLst/>
          </a:prstGeom>
          <a:solidFill>
            <a:srgbClr val="FBEAE5"/>
          </a:solidFill>
          <a:ln/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5061" y="2284628"/>
            <a:ext cx="331927" cy="331927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555230" y="2852928"/>
            <a:ext cx="129159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Segregation</a:t>
            </a:r>
            <a:endParaRPr lang="en-US" sz="95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6236" y="2331720"/>
            <a:ext cx="201168" cy="201168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9190863" y="2148840"/>
            <a:ext cx="603504" cy="603504"/>
          </a:xfrm>
          <a:prstGeom prst="ellipse">
            <a:avLst/>
          </a:prstGeom>
          <a:solidFill>
            <a:srgbClr val="FBEAE5"/>
          </a:solidFill>
          <a:ln/>
        </p:spPr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651" y="2284628"/>
            <a:ext cx="331927" cy="331927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8846820" y="2852928"/>
            <a:ext cx="129159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Waste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95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7826" y="2331720"/>
            <a:ext cx="201168" cy="201168"/>
          </a:xfrm>
          <a:prstGeom prst="rect">
            <a:avLst/>
          </a:prstGeom>
        </p:spPr>
      </p:pic>
      <p:sp>
        <p:nvSpPr>
          <p:cNvPr id="28" name="Shape 16"/>
          <p:cNvSpPr/>
          <p:nvPr/>
        </p:nvSpPr>
        <p:spPr>
          <a:xfrm>
            <a:off x="10482453" y="2148840"/>
            <a:ext cx="603504" cy="603504"/>
          </a:xfrm>
          <a:prstGeom prst="ellipse">
            <a:avLst/>
          </a:prstGeom>
          <a:solidFill>
            <a:srgbClr val="FBEAE5"/>
          </a:solidFill>
          <a:ln/>
        </p:spPr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18241" y="2284628"/>
            <a:ext cx="331927" cy="331927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10138410" y="2852928"/>
            <a:ext cx="129159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50" dirty="0"/>
          </a:p>
        </p:txBody>
      </p:sp>
      <p:sp>
        <p:nvSpPr>
          <p:cNvPr id="31" name="Text 18"/>
          <p:cNvSpPr/>
          <p:nvPr/>
        </p:nvSpPr>
        <p:spPr>
          <a:xfrm>
            <a:off x="6263640" y="3611880"/>
            <a:ext cx="5166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unaddressed, small everyday mistakes compound into a much larger sustainability problem.</a:t>
            </a:r>
            <a:endParaRPr lang="en-US" sz="1200" dirty="0"/>
          </a:p>
        </p:txBody>
      </p:sp>
      <p:sp>
        <p:nvSpPr>
          <p:cNvPr id="32" name="Shape 19"/>
          <p:cNvSpPr/>
          <p:nvPr/>
        </p:nvSpPr>
        <p:spPr>
          <a:xfrm>
            <a:off x="502920" y="4663440"/>
            <a:ext cx="11201400" cy="1554480"/>
          </a:xfrm>
          <a:prstGeom prst="roundRect">
            <a:avLst>
              <a:gd name="adj" fmla="val 7059"/>
            </a:avLst>
          </a:prstGeom>
          <a:solidFill>
            <a:srgbClr val="1B4332"/>
          </a:solidFill>
          <a:ln/>
        </p:spPr>
      </p:sp>
      <p:sp>
        <p:nvSpPr>
          <p:cNvPr id="33" name="Text 20"/>
          <p:cNvSpPr/>
          <p:nvPr/>
        </p:nvSpPr>
        <p:spPr>
          <a:xfrm>
            <a:off x="82296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100" dirty="0"/>
          </a:p>
        </p:txBody>
      </p:sp>
      <p:sp>
        <p:nvSpPr>
          <p:cNvPr id="34" name="Shape 21"/>
          <p:cNvSpPr/>
          <p:nvPr/>
        </p:nvSpPr>
        <p:spPr>
          <a:xfrm>
            <a:off x="1595628" y="5193792"/>
            <a:ext cx="566928" cy="566928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23187" y="5321351"/>
            <a:ext cx="311810" cy="31181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822960" y="5833872"/>
            <a:ext cx="21122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000" dirty="0"/>
          </a:p>
        </p:txBody>
      </p:sp>
      <p:sp>
        <p:nvSpPr>
          <p:cNvPr id="37" name="Shape 23"/>
          <p:cNvSpPr/>
          <p:nvPr/>
        </p:nvSpPr>
        <p:spPr>
          <a:xfrm>
            <a:off x="3707892" y="5193792"/>
            <a:ext cx="566928" cy="566928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35451" y="5321351"/>
            <a:ext cx="311810" cy="311810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2935224" y="5833872"/>
            <a:ext cx="21122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</a:t>
            </a:r>
            <a:endParaRPr lang="en-US" sz="1000" dirty="0"/>
          </a:p>
        </p:txBody>
      </p:sp>
      <p:sp>
        <p:nvSpPr>
          <p:cNvPr id="40" name="Shape 25"/>
          <p:cNvSpPr/>
          <p:nvPr/>
        </p:nvSpPr>
        <p:spPr>
          <a:xfrm>
            <a:off x="5820156" y="5193792"/>
            <a:ext cx="566928" cy="566928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41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7715" y="5321351"/>
            <a:ext cx="311810" cy="311810"/>
          </a:xfrm>
          <a:prstGeom prst="rect">
            <a:avLst/>
          </a:prstGeom>
        </p:spPr>
      </p:pic>
      <p:sp>
        <p:nvSpPr>
          <p:cNvPr id="42" name="Text 26"/>
          <p:cNvSpPr/>
          <p:nvPr/>
        </p:nvSpPr>
        <p:spPr>
          <a:xfrm>
            <a:off x="5047488" y="5833872"/>
            <a:ext cx="21122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/ Colleges</a:t>
            </a:r>
            <a:endParaRPr lang="en-US" sz="1000" dirty="0"/>
          </a:p>
        </p:txBody>
      </p:sp>
      <p:sp>
        <p:nvSpPr>
          <p:cNvPr id="43" name="Shape 27"/>
          <p:cNvSpPr/>
          <p:nvPr/>
        </p:nvSpPr>
        <p:spPr>
          <a:xfrm>
            <a:off x="7932420" y="5193792"/>
            <a:ext cx="566928" cy="566928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44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59979" y="5321351"/>
            <a:ext cx="311810" cy="311810"/>
          </a:xfrm>
          <a:prstGeom prst="rect">
            <a:avLst/>
          </a:prstGeom>
        </p:spPr>
      </p:pic>
      <p:sp>
        <p:nvSpPr>
          <p:cNvPr id="45" name="Text 28"/>
          <p:cNvSpPr/>
          <p:nvPr/>
        </p:nvSpPr>
        <p:spPr>
          <a:xfrm>
            <a:off x="7159752" y="5833872"/>
            <a:ext cx="21122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Offices</a:t>
            </a:r>
            <a:endParaRPr lang="en-US" sz="1000" dirty="0"/>
          </a:p>
        </p:txBody>
      </p:sp>
      <p:sp>
        <p:nvSpPr>
          <p:cNvPr id="46" name="Shape 29"/>
          <p:cNvSpPr/>
          <p:nvPr/>
        </p:nvSpPr>
        <p:spPr>
          <a:xfrm>
            <a:off x="10044684" y="5193792"/>
            <a:ext cx="566928" cy="566928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4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72243" y="5321351"/>
            <a:ext cx="311810" cy="311810"/>
          </a:xfrm>
          <a:prstGeom prst="rect">
            <a:avLst/>
          </a:prstGeom>
        </p:spPr>
      </p:pic>
      <p:sp>
        <p:nvSpPr>
          <p:cNvPr id="48" name="Text 30"/>
          <p:cNvSpPr/>
          <p:nvPr/>
        </p:nvSpPr>
        <p:spPr>
          <a:xfrm>
            <a:off x="9272016" y="5833872"/>
            <a:ext cx="21122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Communities</a:t>
            </a:r>
            <a:endParaRPr lang="en-US" sz="1000" dirty="0"/>
          </a:p>
        </p:txBody>
      </p:sp>
      <p:sp>
        <p:nvSpPr>
          <p:cNvPr id="49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AI  |  1M1B AI for Sustainability Internship</a:t>
            </a:r>
            <a:endParaRPr lang="en-US" sz="900" dirty="0"/>
          </a:p>
        </p:txBody>
      </p:sp>
      <p:sp>
        <p:nvSpPr>
          <p:cNvPr id="50" name="Text 3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GOALS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Alignment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6309360" cy="4572000"/>
          </a:xfrm>
          <a:prstGeom prst="roundRect">
            <a:avLst>
              <a:gd name="adj" fmla="val 2800"/>
            </a:avLst>
          </a:prstGeom>
          <a:solidFill>
            <a:srgbClr val="BF8B2E"/>
          </a:solidFill>
          <a:ln/>
          <a:effectLst>
            <a:outerShdw blurRad="127000" dist="381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288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BF8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SDG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92040" y="1783080"/>
            <a:ext cx="1371600" cy="13716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076" y="2071116"/>
            <a:ext cx="795528" cy="7955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24231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12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795528" y="31089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0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Consumption and Production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95528" y="365760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C20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AI directly advances SDG 12 by helping people build better waste awareness, make smarter segregation choices, and act on reuse and recycling opportunities in their everyday lives.</a:t>
            </a:r>
            <a:endParaRPr lang="en-US" sz="13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5093208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15568" y="504748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everyday waste awareness</a:t>
            </a:r>
            <a:endParaRPr lang="en-US" sz="12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5431536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15568" y="5385816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responsible disposal decisions</a:t>
            </a:r>
            <a:endParaRPr lang="en-US" sz="12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5769864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15568" y="5724144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reuse &amp; recycling habits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995160" y="1554480"/>
            <a:ext cx="4709160" cy="2194560"/>
          </a:xfrm>
          <a:prstGeom prst="roundRect">
            <a:avLst>
              <a:gd name="adj" fmla="val 5833"/>
            </a:avLst>
          </a:prstGeom>
          <a:solidFill>
            <a:srgbClr val="F9A03F"/>
          </a:solidFill>
          <a:ln/>
        </p:spPr>
      </p:sp>
      <p:sp>
        <p:nvSpPr>
          <p:cNvPr id="20" name="Shape 14"/>
          <p:cNvSpPr/>
          <p:nvPr/>
        </p:nvSpPr>
        <p:spPr>
          <a:xfrm>
            <a:off x="7269480" y="1810512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4359" y="1985391"/>
            <a:ext cx="427482" cy="42748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29600" y="17830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11</a:t>
            </a:r>
            <a:endParaRPr lang="en-US" sz="2000" dirty="0"/>
          </a:p>
        </p:txBody>
      </p:sp>
      <p:sp>
        <p:nvSpPr>
          <p:cNvPr id="23" name="Text 16"/>
          <p:cNvSpPr/>
          <p:nvPr/>
        </p:nvSpPr>
        <p:spPr>
          <a:xfrm>
            <a:off x="8229600" y="2157984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2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Cities and Communities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7269480" y="260604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2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cleaner, better-managed local communities through informed waste practices.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6995160" y="3931920"/>
            <a:ext cx="4709160" cy="2194560"/>
          </a:xfrm>
          <a:prstGeom prst="roundRect">
            <a:avLst>
              <a:gd name="adj" fmla="val 5833"/>
            </a:avLst>
          </a:prstGeom>
          <a:solidFill>
            <a:srgbClr val="48773C"/>
          </a:solidFill>
          <a:ln/>
        </p:spPr>
      </p:sp>
      <p:sp>
        <p:nvSpPr>
          <p:cNvPr id="26" name="Shape 19"/>
          <p:cNvSpPr/>
          <p:nvPr/>
        </p:nvSpPr>
        <p:spPr>
          <a:xfrm>
            <a:off x="7269480" y="4187952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4359" y="4362831"/>
            <a:ext cx="427482" cy="42748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229600" y="41605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13</a:t>
            </a:r>
            <a:endParaRPr lang="en-US" sz="2000" dirty="0"/>
          </a:p>
        </p:txBody>
      </p:sp>
      <p:sp>
        <p:nvSpPr>
          <p:cNvPr id="29" name="Text 21"/>
          <p:cNvSpPr/>
          <p:nvPr/>
        </p:nvSpPr>
        <p:spPr>
          <a:xfrm>
            <a:off x="8229600" y="4535424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Action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7269480" y="498348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9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environmental impact by lowering avoidable waste and emissions from mismanagement.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AI  |  1M1B AI for Sustainability Internship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RATIONALE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AI?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information page can’t respond to what a person actually has in front of them. AI turns waste guidance into a real conversation.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2D6A4F"/>
          </a:solidFill>
          <a:ln/>
        </p:spPr>
      </p:sp>
      <p:sp>
        <p:nvSpPr>
          <p:cNvPr id="7" name="Shape 5"/>
          <p:cNvSpPr/>
          <p:nvPr/>
        </p:nvSpPr>
        <p:spPr>
          <a:xfrm>
            <a:off x="1394460" y="23317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052" y="249631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2004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800" y="358444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a user’s waste description in plain language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5808" y="2971800"/>
            <a:ext cx="182880" cy="182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18688" y="210312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2D6A4F"/>
          </a:solidFill>
          <a:ln/>
        </p:spPr>
      </p:sp>
      <p:sp>
        <p:nvSpPr>
          <p:cNvPr id="13" name="Shape 9"/>
          <p:cNvSpPr/>
          <p:nvPr/>
        </p:nvSpPr>
        <p:spPr>
          <a:xfrm>
            <a:off x="4110228" y="23317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4820" y="2496312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55848" y="32004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401568" y="358444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most likely waste category</a:t>
            </a:r>
            <a:endParaRPr lang="en-US" sz="10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1576" y="2971800"/>
            <a:ext cx="182880" cy="18288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934456" y="210312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2D6A4F"/>
          </a:solidFill>
          <a:ln/>
        </p:spPr>
      </p:sp>
      <p:sp>
        <p:nvSpPr>
          <p:cNvPr id="19" name="Shape 13"/>
          <p:cNvSpPr/>
          <p:nvPr/>
        </p:nvSpPr>
        <p:spPr>
          <a:xfrm>
            <a:off x="6825996" y="23317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0588" y="2496312"/>
            <a:ext cx="402336" cy="40233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071616" y="32004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117336" y="358444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the appropriate action to take</a:t>
            </a:r>
            <a:endParaRPr lang="en-US" sz="10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344" y="2971800"/>
            <a:ext cx="182880" cy="18288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8650224" y="210312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2D6A4F"/>
          </a:solidFill>
          <a:ln/>
        </p:spPr>
      </p:sp>
      <p:sp>
        <p:nvSpPr>
          <p:cNvPr id="25" name="Shape 17"/>
          <p:cNvSpPr/>
          <p:nvPr/>
        </p:nvSpPr>
        <p:spPr>
          <a:xfrm>
            <a:off x="9541764" y="23317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6356" y="2496312"/>
            <a:ext cx="402336" cy="402336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787384" y="32004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</a:t>
            </a:r>
            <a:endParaRPr lang="en-US" sz="1600" dirty="0"/>
          </a:p>
        </p:txBody>
      </p:sp>
      <p:sp>
        <p:nvSpPr>
          <p:cNvPr id="28" name="Text 19"/>
          <p:cNvSpPr/>
          <p:nvPr/>
        </p:nvSpPr>
        <p:spPr>
          <a:xfrm>
            <a:off x="8833104" y="358444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follow-up sustainability questions</a:t>
            </a:r>
            <a:endParaRPr lang="en-US" sz="1050" dirty="0"/>
          </a:p>
        </p:txBody>
      </p:sp>
      <p:sp>
        <p:nvSpPr>
          <p:cNvPr id="29" name="Shape 20"/>
          <p:cNvSpPr/>
          <p:nvPr/>
        </p:nvSpPr>
        <p:spPr>
          <a:xfrm>
            <a:off x="502920" y="4434840"/>
            <a:ext cx="11201400" cy="160020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/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4937760"/>
            <a:ext cx="594360" cy="59436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600200" y="4709160"/>
            <a:ext cx="9784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might we use AI to help people identify, segregate and</a:t>
            </a:r>
            <a:endParaRPr lang="en-US" sz="19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responsibly manage everyday waste?</a:t>
            </a:r>
            <a:endParaRPr lang="en-US" sz="1900" dirty="0"/>
          </a:p>
        </p:txBody>
      </p:sp>
      <p:sp>
        <p:nvSpPr>
          <p:cNvPr id="32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AI  |  1M1B AI for Sustainability Internship</a:t>
            </a:r>
            <a:endParaRPr lang="en-US" sz="900" dirty="0"/>
          </a:p>
        </p:txBody>
      </p:sp>
      <p:sp>
        <p:nvSpPr>
          <p:cNvPr id="33" name="Text 2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 — EcoSort AI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1201400" cy="960120"/>
          </a:xfrm>
          <a:prstGeom prst="roundRect">
            <a:avLst>
              <a:gd name="adj" fmla="val 11429"/>
            </a:avLst>
          </a:prstGeom>
          <a:solidFill>
            <a:srgbClr val="D8F3D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10561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sustainability assistant that helps users understand everyday waste, identify appropriate waste categories, receive responsible waste-management guidance, and learn better sustainability habits.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606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PROTOTYPE FEATURES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97180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8E2"/>
            </a:solidFill>
            <a:prstDash val="solid"/>
          </a:ln>
          <a:effectLst>
            <a:outerShdw blurRad="76200" dist="25400" dir="5400000" algn="bl" rotWithShape="0">
              <a:srgbClr val="1B4332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04088" y="3172968"/>
            <a:ext cx="566928" cy="566928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647" y="3300527"/>
            <a:ext cx="311810" cy="31181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04088" y="3813048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Checker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04088" y="4105656"/>
            <a:ext cx="3209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how to handle a specific waste item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297680" y="297180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8E2"/>
            </a:solidFill>
            <a:prstDash val="solid"/>
          </a:ln>
          <a:effectLst>
            <a:outerShdw blurRad="76200" dist="25400" dir="5400000" algn="bl" rotWithShape="0">
              <a:srgbClr val="1B4332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98848" y="3172968"/>
            <a:ext cx="566928" cy="566928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407" y="3300527"/>
            <a:ext cx="311810" cy="31181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98848" y="3813048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AI Assistant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498848" y="4105656"/>
            <a:ext cx="3209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guidance on sustainable choices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092440" y="297180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8E2"/>
            </a:solidFill>
            <a:prstDash val="solid"/>
          </a:ln>
          <a:effectLst>
            <a:outerShdw blurRad="76200" dist="25400" dir="5400000" algn="bl" rotWithShape="0">
              <a:srgbClr val="1B4332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93608" y="3172968"/>
            <a:ext cx="566928" cy="566928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167" y="3300527"/>
            <a:ext cx="311810" cy="31181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93608" y="3813048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Category Guidance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293608" y="4105656"/>
            <a:ext cx="3209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categorization of common waste types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02920" y="470916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8E2"/>
            </a:solidFill>
            <a:prstDash val="solid"/>
          </a:ln>
          <a:effectLst>
            <a:outerShdw blurRad="76200" dist="25400" dir="5400000" algn="bl" rotWithShape="0">
              <a:srgbClr val="1B4332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04088" y="4910328"/>
            <a:ext cx="566928" cy="566928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647" y="5037887"/>
            <a:ext cx="311810" cy="31181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04088" y="5550408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Tips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704088" y="5843016"/>
            <a:ext cx="3209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Practical, everyday eco-friendly suggestions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297680" y="470916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8E2"/>
            </a:solidFill>
            <a:prstDash val="solid"/>
          </a:ln>
          <a:effectLst>
            <a:outerShdw blurRad="76200" dist="25400" dir="5400000" algn="bl" rotWithShape="0">
              <a:srgbClr val="1B4332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498848" y="4910328"/>
            <a:ext cx="566928" cy="566928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6407" y="5037887"/>
            <a:ext cx="311810" cy="31181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498848" y="5550408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 / Prompt Demo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4498848" y="5843016"/>
            <a:ext cx="3209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the assistant reasons and responds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8092440" y="470916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8E2"/>
            </a:solidFill>
            <a:prstDash val="solid"/>
          </a:ln>
          <a:effectLst>
            <a:outerShdw blurRad="76200" dist="25400" dir="5400000" algn="bl" rotWithShape="0">
              <a:srgbClr val="1B4332">
                <a:alpha val="1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8293608" y="4910328"/>
            <a:ext cx="566928" cy="566928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1167" y="5037887"/>
            <a:ext cx="311810" cy="31181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293608" y="5550408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/ Awareness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8293608" y="5843016"/>
            <a:ext cx="3209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the value of better waste habits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AI  |  1M1B AI for Sustainability Internship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234B3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EcoSort AI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1874520" cy="3017520"/>
          </a:xfrm>
          <a:prstGeom prst="roundRect">
            <a:avLst>
              <a:gd name="adj" fmla="val 5854"/>
            </a:avLst>
          </a:prstGeom>
          <a:solidFill>
            <a:srgbClr val="234B37"/>
          </a:solidFill>
          <a:ln/>
        </p:spPr>
      </p:sp>
      <p:sp>
        <p:nvSpPr>
          <p:cNvPr id="6" name="Shape 4"/>
          <p:cNvSpPr/>
          <p:nvPr/>
        </p:nvSpPr>
        <p:spPr>
          <a:xfrm>
            <a:off x="1074420" y="2286000"/>
            <a:ext cx="731520" cy="731520"/>
          </a:xfrm>
          <a:prstGeom prst="ellipse">
            <a:avLst/>
          </a:prstGeom>
          <a:solidFill>
            <a:srgbClr val="E9C46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012" y="245059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320040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12648" y="3749040"/>
            <a:ext cx="165506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“Plastic water bottle”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7168" y="3355848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34640" y="1965960"/>
            <a:ext cx="1874520" cy="3017520"/>
          </a:xfrm>
          <a:prstGeom prst="roundRect">
            <a:avLst>
              <a:gd name="adj" fmla="val 5854"/>
            </a:avLst>
          </a:prstGeom>
          <a:solidFill>
            <a:srgbClr val="2D6A4F"/>
          </a:solidFill>
          <a:ln/>
        </p:spPr>
      </p:sp>
      <p:sp>
        <p:nvSpPr>
          <p:cNvPr id="12" name="Shape 8"/>
          <p:cNvSpPr/>
          <p:nvPr/>
        </p:nvSpPr>
        <p:spPr>
          <a:xfrm>
            <a:off x="3406140" y="2286000"/>
            <a:ext cx="731520" cy="731520"/>
          </a:xfrm>
          <a:prstGeom prst="ellipse">
            <a:avLst/>
          </a:prstGeom>
          <a:solidFill>
            <a:srgbClr val="E9C46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0732" y="245059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926080" y="320040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UNDERSTANDING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2944368" y="3749040"/>
            <a:ext cx="165506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 the description</a:t>
            </a:r>
            <a:endParaRPr lang="en-US" sz="11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3355848"/>
            <a:ext cx="237744" cy="2377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166360" y="1965960"/>
            <a:ext cx="1874520" cy="3017520"/>
          </a:xfrm>
          <a:prstGeom prst="roundRect">
            <a:avLst>
              <a:gd name="adj" fmla="val 5854"/>
            </a:avLst>
          </a:prstGeom>
          <a:solidFill>
            <a:srgbClr val="234B37"/>
          </a:solidFill>
          <a:ln/>
        </p:spPr>
      </p:sp>
      <p:sp>
        <p:nvSpPr>
          <p:cNvPr id="18" name="Shape 12"/>
          <p:cNvSpPr/>
          <p:nvPr/>
        </p:nvSpPr>
        <p:spPr>
          <a:xfrm>
            <a:off x="5737860" y="2286000"/>
            <a:ext cx="731520" cy="731520"/>
          </a:xfrm>
          <a:prstGeom prst="ellipse">
            <a:avLst/>
          </a:prstGeom>
          <a:solidFill>
            <a:srgbClr val="E9C46A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2452" y="2450592"/>
            <a:ext cx="402336" cy="40233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57800" y="320040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CATEGORY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5276088" y="3749040"/>
            <a:ext cx="165506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Waste</a:t>
            </a:r>
            <a:endParaRPr lang="en-US" sz="11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08" y="3355848"/>
            <a:ext cx="237744" cy="23774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498080" y="1965960"/>
            <a:ext cx="1874520" cy="3017520"/>
          </a:xfrm>
          <a:prstGeom prst="roundRect">
            <a:avLst>
              <a:gd name="adj" fmla="val 5854"/>
            </a:avLst>
          </a:prstGeom>
          <a:solidFill>
            <a:srgbClr val="2D6A4F"/>
          </a:solidFill>
          <a:ln/>
        </p:spPr>
      </p:sp>
      <p:sp>
        <p:nvSpPr>
          <p:cNvPr id="24" name="Shape 16"/>
          <p:cNvSpPr/>
          <p:nvPr/>
        </p:nvSpPr>
        <p:spPr>
          <a:xfrm>
            <a:off x="8069580" y="2286000"/>
            <a:ext cx="731520" cy="731520"/>
          </a:xfrm>
          <a:prstGeom prst="ellipse">
            <a:avLst/>
          </a:prstGeom>
          <a:solidFill>
            <a:srgbClr val="E9C46A"/>
          </a:solidFill>
          <a:ln/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4172" y="2450592"/>
            <a:ext cx="402336" cy="402336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589520" y="320040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050" dirty="0"/>
          </a:p>
        </p:txBody>
      </p:sp>
      <p:sp>
        <p:nvSpPr>
          <p:cNvPr id="27" name="Text 18"/>
          <p:cNvSpPr/>
          <p:nvPr/>
        </p:nvSpPr>
        <p:spPr>
          <a:xfrm>
            <a:off x="7607808" y="3749040"/>
            <a:ext cx="165506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 / Reuse where appropriate</a:t>
            </a:r>
            <a:endParaRPr lang="en-US" sz="115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2328" y="3355848"/>
            <a:ext cx="237744" cy="237744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9829800" y="1965960"/>
            <a:ext cx="1874520" cy="3017520"/>
          </a:xfrm>
          <a:prstGeom prst="roundRect">
            <a:avLst>
              <a:gd name="adj" fmla="val 5854"/>
            </a:avLst>
          </a:prstGeom>
          <a:solidFill>
            <a:srgbClr val="234B37"/>
          </a:solidFill>
          <a:ln/>
        </p:spPr>
      </p:sp>
      <p:sp>
        <p:nvSpPr>
          <p:cNvPr id="30" name="Shape 20"/>
          <p:cNvSpPr/>
          <p:nvPr/>
        </p:nvSpPr>
        <p:spPr>
          <a:xfrm>
            <a:off x="10401300" y="2286000"/>
            <a:ext cx="731520" cy="731520"/>
          </a:xfrm>
          <a:prstGeom prst="ellipse">
            <a:avLst/>
          </a:prstGeom>
          <a:solidFill>
            <a:srgbClr val="E9C46A"/>
          </a:solidFill>
          <a:ln/>
        </p:spPr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65892" y="2450592"/>
            <a:ext cx="402336" cy="402336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9921240" y="320040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GUIDANCE</a:t>
            </a:r>
            <a:endParaRPr lang="en-US" sz="1050" dirty="0"/>
          </a:p>
        </p:txBody>
      </p:sp>
      <p:sp>
        <p:nvSpPr>
          <p:cNvPr id="33" name="Text 22"/>
          <p:cNvSpPr/>
          <p:nvPr/>
        </p:nvSpPr>
        <p:spPr>
          <a:xfrm>
            <a:off x="9939528" y="3749040"/>
            <a:ext cx="165506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next-step tip</a:t>
            </a:r>
            <a:endParaRPr lang="en-US" sz="1150" dirty="0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5486400"/>
            <a:ext cx="274320" cy="27432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896112" y="546811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7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waste-management and recycling rules may vary by city or region.</a:t>
            </a:r>
            <a:endParaRPr lang="en-US" sz="1200" dirty="0"/>
          </a:p>
        </p:txBody>
      </p:sp>
      <p:sp>
        <p:nvSpPr>
          <p:cNvPr id="3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7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AI  |  1M1B AI for Sustainability Internship</a:t>
            </a:r>
            <a:endParaRPr lang="en-US" sz="900" dirty="0"/>
          </a:p>
        </p:txBody>
      </p:sp>
      <p:sp>
        <p:nvSpPr>
          <p:cNvPr id="37" name="Text 2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19" y="795528"/>
            <a:ext cx="454494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— Key Screens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08103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EcoSort AI interface — screenshots to be inserted from the working prototype.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8811" y="1437286"/>
            <a:ext cx="11735671" cy="5036665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CBD9D0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5532120" y="248194"/>
            <a:ext cx="5440680" cy="457200"/>
          </a:xfrm>
          <a:prstGeom prst="roundRect">
            <a:avLst/>
          </a:prstGeom>
          <a:solidFill>
            <a:srgbClr val="1B4332"/>
          </a:solidFill>
          <a:ln/>
        </p:spPr>
        <p:txBody>
          <a:bodyPr/>
          <a:lstStyle/>
          <a:p>
            <a:pPr algn="ctr"/>
            <a:r>
              <a:rPr lang="en-US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02920" y="338328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263640" y="338328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Checker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6263640" y="5605272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 / Prompt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AI  |  1M1B AI for Sustainability Internship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DF4DE74-D370-E30D-2B76-32BBA7F68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811" y="1400709"/>
            <a:ext cx="11735671" cy="50732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D73F7-3F56-1416-F49A-DA929311F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B195B34-1369-1A85-3F29-548F5F550B30}"/>
              </a:ext>
            </a:extLst>
          </p:cNvPr>
          <p:cNvSpPr/>
          <p:nvPr/>
        </p:nvSpPr>
        <p:spPr>
          <a:xfrm>
            <a:off x="502920" y="38404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986718A-B672-062C-7B7B-AB06B09910BA}"/>
              </a:ext>
            </a:extLst>
          </p:cNvPr>
          <p:cNvSpPr/>
          <p:nvPr/>
        </p:nvSpPr>
        <p:spPr>
          <a:xfrm>
            <a:off x="502920" y="38404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D8FFCE3-6774-434E-EC2C-A6D3FB9742E5}"/>
              </a:ext>
            </a:extLst>
          </p:cNvPr>
          <p:cNvSpPr/>
          <p:nvPr/>
        </p:nvSpPr>
        <p:spPr>
          <a:xfrm>
            <a:off x="502919" y="795528"/>
            <a:ext cx="454494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— Key Screens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81ACDF0-E79A-E8F4-0ECC-614008199014}"/>
              </a:ext>
            </a:extLst>
          </p:cNvPr>
          <p:cNvSpPr/>
          <p:nvPr/>
        </p:nvSpPr>
        <p:spPr>
          <a:xfrm>
            <a:off x="457200" y="1108103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EcoSort AI interface — screenshots to be inserted from the working prototype.</a:t>
            </a:r>
            <a:endParaRPr lang="en-US" sz="12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2D4BBA8-C0B2-42A4-CA9A-77BE28C2109B}"/>
              </a:ext>
            </a:extLst>
          </p:cNvPr>
          <p:cNvSpPr/>
          <p:nvPr/>
        </p:nvSpPr>
        <p:spPr>
          <a:xfrm>
            <a:off x="328811" y="1437286"/>
            <a:ext cx="11735671" cy="5036665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CBD9D0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3FCB255E-B1A8-5868-4A91-1D103FDDEA23}"/>
              </a:ext>
            </a:extLst>
          </p:cNvPr>
          <p:cNvSpPr/>
          <p:nvPr/>
        </p:nvSpPr>
        <p:spPr>
          <a:xfrm>
            <a:off x="5532120" y="248194"/>
            <a:ext cx="5440680" cy="457200"/>
          </a:xfrm>
          <a:prstGeom prst="roundRect">
            <a:avLst/>
          </a:prstGeom>
          <a:solidFill>
            <a:srgbClr val="1B4332"/>
          </a:solidFill>
          <a:ln/>
        </p:spPr>
        <p:txBody>
          <a:bodyPr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Checker</a:t>
            </a:r>
            <a:endParaRPr lang="en-US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2E3AE01-C412-2BC3-E581-492580D2D19A}"/>
              </a:ext>
            </a:extLst>
          </p:cNvPr>
          <p:cNvSpPr/>
          <p:nvPr/>
        </p:nvSpPr>
        <p:spPr>
          <a:xfrm>
            <a:off x="502920" y="338328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3257CC14-1E0D-7B60-34A8-AB958B2785EE}"/>
              </a:ext>
            </a:extLst>
          </p:cNvPr>
          <p:cNvSpPr/>
          <p:nvPr/>
        </p:nvSpPr>
        <p:spPr>
          <a:xfrm>
            <a:off x="6263640" y="338328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Checker</a:t>
            </a:r>
            <a:endParaRPr lang="en-US" sz="1300" dirty="0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7F2BF3F0-050B-DEF4-B548-83221D58A29E}"/>
              </a:ext>
            </a:extLst>
          </p:cNvPr>
          <p:cNvSpPr/>
          <p:nvPr/>
        </p:nvSpPr>
        <p:spPr>
          <a:xfrm>
            <a:off x="6263640" y="5605272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 / Prompt</a:t>
            </a:r>
            <a:endParaRPr lang="en-US" sz="130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0C617644-E102-DAC7-40C9-C3ECD360386A}"/>
              </a:ext>
            </a:extLst>
          </p:cNvPr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AI  |  1M1B AI for Sustainability Internship</a:t>
            </a:r>
            <a:endParaRPr lang="en-US" sz="900" dirty="0"/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8AB87DD-EA81-731D-0C9E-F4E230D8ACE6}"/>
              </a:ext>
            </a:extLst>
          </p:cNvPr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7E82BF-FDC0-3AE6-959C-74A8F25D9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604" y="1400709"/>
            <a:ext cx="11849878" cy="4999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351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6B73F-9847-6B44-F88B-71F99E7C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521D4B5-C4D6-50B9-DDF1-06CFE356880E}"/>
              </a:ext>
            </a:extLst>
          </p:cNvPr>
          <p:cNvSpPr/>
          <p:nvPr/>
        </p:nvSpPr>
        <p:spPr>
          <a:xfrm>
            <a:off x="502920" y="38404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C85E127-294F-9B4A-127D-A8D739B053E7}"/>
              </a:ext>
            </a:extLst>
          </p:cNvPr>
          <p:cNvSpPr/>
          <p:nvPr/>
        </p:nvSpPr>
        <p:spPr>
          <a:xfrm>
            <a:off x="502920" y="38404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CD4C4DA-99EC-4BFF-4C1E-5D353DA34415}"/>
              </a:ext>
            </a:extLst>
          </p:cNvPr>
          <p:cNvSpPr/>
          <p:nvPr/>
        </p:nvSpPr>
        <p:spPr>
          <a:xfrm>
            <a:off x="502919" y="795528"/>
            <a:ext cx="454494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— Key Screens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482DD3E-F443-B6BE-B302-086159571D1B}"/>
              </a:ext>
            </a:extLst>
          </p:cNvPr>
          <p:cNvSpPr/>
          <p:nvPr/>
        </p:nvSpPr>
        <p:spPr>
          <a:xfrm>
            <a:off x="457200" y="1108103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EcoSort AI interface — screenshots to be inserted from the working prototype.</a:t>
            </a:r>
            <a:endParaRPr lang="en-US" sz="12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20F781B-29C1-9D24-E7C2-6E8E014EB5C1}"/>
              </a:ext>
            </a:extLst>
          </p:cNvPr>
          <p:cNvSpPr/>
          <p:nvPr/>
        </p:nvSpPr>
        <p:spPr>
          <a:xfrm>
            <a:off x="328811" y="1437286"/>
            <a:ext cx="11735671" cy="5036665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CBD9D0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EC092EAF-7090-1CAC-E3FB-550815B57523}"/>
              </a:ext>
            </a:extLst>
          </p:cNvPr>
          <p:cNvSpPr/>
          <p:nvPr/>
        </p:nvSpPr>
        <p:spPr>
          <a:xfrm>
            <a:off x="5532120" y="248194"/>
            <a:ext cx="5440680" cy="457200"/>
          </a:xfrm>
          <a:prstGeom prst="roundRect">
            <a:avLst/>
          </a:prstGeom>
          <a:solidFill>
            <a:srgbClr val="1B4332"/>
          </a:solidFill>
          <a:ln/>
        </p:spPr>
        <p:txBody>
          <a:bodyPr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Sustainability Assistant</a:t>
            </a:r>
            <a:endParaRPr lang="en-US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7444C3C-36B4-D25F-EE76-D685C2A82977}"/>
              </a:ext>
            </a:extLst>
          </p:cNvPr>
          <p:cNvSpPr/>
          <p:nvPr/>
        </p:nvSpPr>
        <p:spPr>
          <a:xfrm>
            <a:off x="502920" y="338328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51019E25-3038-8A8A-17C3-DC5E78F5570C}"/>
              </a:ext>
            </a:extLst>
          </p:cNvPr>
          <p:cNvSpPr/>
          <p:nvPr/>
        </p:nvSpPr>
        <p:spPr>
          <a:xfrm>
            <a:off x="6263640" y="338328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Checker</a:t>
            </a:r>
            <a:endParaRPr lang="en-US" sz="1300" dirty="0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1E810F5F-A7D1-DDB2-49C5-0A86199AAF2E}"/>
              </a:ext>
            </a:extLst>
          </p:cNvPr>
          <p:cNvSpPr/>
          <p:nvPr/>
        </p:nvSpPr>
        <p:spPr>
          <a:xfrm>
            <a:off x="6263640" y="5605272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 / Prompt</a:t>
            </a:r>
            <a:endParaRPr lang="en-US" sz="130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E7C09B0A-5875-42AE-5AF9-54CE9A57060E}"/>
              </a:ext>
            </a:extLst>
          </p:cNvPr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AI  |  1M1B AI for Sustainability Internship</a:t>
            </a:r>
            <a:endParaRPr lang="en-US" sz="900" dirty="0"/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0D4814F7-02FE-5D48-9A82-6538DA1AEEBC}"/>
              </a:ext>
            </a:extLst>
          </p:cNvPr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009845-1EAA-DF91-1089-599DD47E6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73" y="1400708"/>
            <a:ext cx="11859209" cy="510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010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1EE10-FAAA-8DA6-6D0A-FDA05ABE0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48C26AA-47C1-A746-1E36-4A72DB69F609}"/>
              </a:ext>
            </a:extLst>
          </p:cNvPr>
          <p:cNvSpPr/>
          <p:nvPr/>
        </p:nvSpPr>
        <p:spPr>
          <a:xfrm>
            <a:off x="502920" y="38404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3F34C7E-B75B-57AF-65E2-70E21E6310FD}"/>
              </a:ext>
            </a:extLst>
          </p:cNvPr>
          <p:cNvSpPr/>
          <p:nvPr/>
        </p:nvSpPr>
        <p:spPr>
          <a:xfrm>
            <a:off x="502920" y="38404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11AB6C-7A76-9556-C1B4-02A15A306902}"/>
              </a:ext>
            </a:extLst>
          </p:cNvPr>
          <p:cNvSpPr/>
          <p:nvPr/>
        </p:nvSpPr>
        <p:spPr>
          <a:xfrm>
            <a:off x="502919" y="795528"/>
            <a:ext cx="454494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— Key Screens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7CC34F5-F074-D44A-58F6-843226C9F964}"/>
              </a:ext>
            </a:extLst>
          </p:cNvPr>
          <p:cNvSpPr/>
          <p:nvPr/>
        </p:nvSpPr>
        <p:spPr>
          <a:xfrm>
            <a:off x="457200" y="1108103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EcoSort AI interface — screenshots to be inserted from the working prototype.</a:t>
            </a:r>
            <a:endParaRPr lang="en-US" sz="12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AB15703-A3D4-4725-6749-4FF7D9F53AD8}"/>
              </a:ext>
            </a:extLst>
          </p:cNvPr>
          <p:cNvSpPr/>
          <p:nvPr/>
        </p:nvSpPr>
        <p:spPr>
          <a:xfrm>
            <a:off x="328811" y="1437286"/>
            <a:ext cx="11735671" cy="5036665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CBD9D0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E8AC95CA-B74B-6DEE-329C-1B05529294E6}"/>
              </a:ext>
            </a:extLst>
          </p:cNvPr>
          <p:cNvSpPr/>
          <p:nvPr/>
        </p:nvSpPr>
        <p:spPr>
          <a:xfrm>
            <a:off x="5532120" y="248194"/>
            <a:ext cx="5440680" cy="457200"/>
          </a:xfrm>
          <a:prstGeom prst="roundRect">
            <a:avLst/>
          </a:prstGeom>
          <a:solidFill>
            <a:srgbClr val="1B4332"/>
          </a:solidFill>
          <a:ln/>
        </p:spPr>
        <p:txBody>
          <a:bodyPr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 / Prompt</a:t>
            </a:r>
            <a:endParaRPr lang="en-US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873E0DD-E4B2-5C13-9B75-E3FD5BB7C6EC}"/>
              </a:ext>
            </a:extLst>
          </p:cNvPr>
          <p:cNvSpPr/>
          <p:nvPr/>
        </p:nvSpPr>
        <p:spPr>
          <a:xfrm>
            <a:off x="502920" y="338328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8934D5CB-2948-89D6-E745-89EC3A36A292}"/>
              </a:ext>
            </a:extLst>
          </p:cNvPr>
          <p:cNvSpPr/>
          <p:nvPr/>
        </p:nvSpPr>
        <p:spPr>
          <a:xfrm>
            <a:off x="6263640" y="338328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Checker</a:t>
            </a:r>
            <a:endParaRPr lang="en-US" sz="1300" dirty="0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583D3717-8F34-AB7A-2B1A-43B6ABCBEAF0}"/>
              </a:ext>
            </a:extLst>
          </p:cNvPr>
          <p:cNvSpPr/>
          <p:nvPr/>
        </p:nvSpPr>
        <p:spPr>
          <a:xfrm>
            <a:off x="6263640" y="5605272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 / Prompt</a:t>
            </a:r>
            <a:endParaRPr lang="en-US" sz="130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45FA1270-7FE1-E7B1-E6AF-D09450EB9162}"/>
              </a:ext>
            </a:extLst>
          </p:cNvPr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AI  |  1M1B AI for Sustainability Internship</a:t>
            </a:r>
            <a:endParaRPr lang="en-US" sz="900" dirty="0"/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C2DD572-BB56-00AA-4DE6-1DAC0CCB784D}"/>
              </a:ext>
            </a:extLst>
          </p:cNvPr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2A2671-7EB2-A13E-CB84-12612AD69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18" y="1400709"/>
            <a:ext cx="11936964" cy="510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59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F1D09-1752-2218-12C9-75FD67B3B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3EF748E-903D-2321-67D3-B2BB31AFF116}"/>
              </a:ext>
            </a:extLst>
          </p:cNvPr>
          <p:cNvSpPr/>
          <p:nvPr/>
        </p:nvSpPr>
        <p:spPr>
          <a:xfrm>
            <a:off x="502920" y="38404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BA05486-2164-4CA4-19AD-A222B465B142}"/>
              </a:ext>
            </a:extLst>
          </p:cNvPr>
          <p:cNvSpPr/>
          <p:nvPr/>
        </p:nvSpPr>
        <p:spPr>
          <a:xfrm>
            <a:off x="502920" y="38404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C3FC7A8-7DDD-8A6B-8EA3-60195F167E6F}"/>
              </a:ext>
            </a:extLst>
          </p:cNvPr>
          <p:cNvSpPr/>
          <p:nvPr/>
        </p:nvSpPr>
        <p:spPr>
          <a:xfrm>
            <a:off x="50292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Workflow &amp; Prompting</a:t>
            </a:r>
            <a:endParaRPr lang="en-US" sz="3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FD52F3A-959F-9C86-74D8-6657421F94C5}"/>
              </a:ext>
            </a:extLst>
          </p:cNvPr>
          <p:cNvSpPr/>
          <p:nvPr/>
        </p:nvSpPr>
        <p:spPr>
          <a:xfrm>
            <a:off x="502920" y="1600200"/>
            <a:ext cx="5577840" cy="914400"/>
          </a:xfrm>
          <a:prstGeom prst="roundRect">
            <a:avLst>
              <a:gd name="adj" fmla="val 16000"/>
            </a:avLst>
          </a:prstGeom>
          <a:solidFill>
            <a:srgbClr val="D8F3DC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0115C31-BA6E-E1D7-EAB4-868EF1DD4604}"/>
              </a:ext>
            </a:extLst>
          </p:cNvPr>
          <p:cNvSpPr/>
          <p:nvPr/>
        </p:nvSpPr>
        <p:spPr>
          <a:xfrm>
            <a:off x="685800" y="1783080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625CA046-C722-5840-3067-A022E0B6D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892808"/>
            <a:ext cx="329184" cy="329184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E9906362-439E-0630-EB0E-3EC6B00BB057}"/>
              </a:ext>
            </a:extLst>
          </p:cNvPr>
          <p:cNvSpPr/>
          <p:nvPr/>
        </p:nvSpPr>
        <p:spPr>
          <a:xfrm>
            <a:off x="1417320" y="164592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have an empty plastic water bottle. What should I do with it?”</a:t>
            </a:r>
            <a:endParaRPr lang="en-US" sz="12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BB279F2-04D1-052A-F786-50396A798EE5}"/>
              </a:ext>
            </a:extLst>
          </p:cNvPr>
          <p:cNvSpPr/>
          <p:nvPr/>
        </p:nvSpPr>
        <p:spPr>
          <a:xfrm>
            <a:off x="6126480" y="2697480"/>
            <a:ext cx="5577840" cy="182880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/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98515499-FDEF-1340-E558-DAD98E37B3F1}"/>
              </a:ext>
            </a:extLst>
          </p:cNvPr>
          <p:cNvSpPr/>
          <p:nvPr/>
        </p:nvSpPr>
        <p:spPr>
          <a:xfrm>
            <a:off x="6309360" y="2880360"/>
            <a:ext cx="548640" cy="548640"/>
          </a:xfrm>
          <a:prstGeom prst="ellipse">
            <a:avLst/>
          </a:prstGeom>
          <a:solidFill>
            <a:srgbClr val="E9C46A"/>
          </a:solidFill>
          <a:ln/>
        </p:spPr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7F7D0EB5-D6EA-4B9B-534B-8AE7F506F9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804" y="3003804"/>
            <a:ext cx="301752" cy="301752"/>
          </a:xfrm>
          <a:prstGeom prst="rect">
            <a:avLst/>
          </a:prstGeom>
        </p:spPr>
      </p:pic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C121A99C-735D-9F19-3E74-4764AB5EB3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2862072"/>
            <a:ext cx="182880" cy="18288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D68CE300-3CE6-40F4-F6B4-1103906ABE72}"/>
              </a:ext>
            </a:extLst>
          </p:cNvPr>
          <p:cNvSpPr/>
          <p:nvPr/>
        </p:nvSpPr>
        <p:spPr>
          <a:xfrm>
            <a:off x="7269480" y="280720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category identified</a:t>
            </a:r>
            <a:endParaRPr lang="en-US" sz="1150" dirty="0"/>
          </a:p>
        </p:txBody>
      </p:sp>
      <p:pic>
        <p:nvPicPr>
          <p:cNvPr id="14" name="Image 3" descr="preencoded.png">
            <a:extLst>
              <a:ext uri="{FF2B5EF4-FFF2-40B4-BE49-F238E27FC236}">
                <a16:creationId xmlns:a16="http://schemas.microsoft.com/office/drawing/2014/main" id="{F87A9CC4-02FB-5962-79B4-4B300CD2EE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3172968"/>
            <a:ext cx="182880" cy="182880"/>
          </a:xfrm>
          <a:prstGeom prst="rect">
            <a:avLst/>
          </a:prstGeom>
        </p:spPr>
      </p:pic>
      <p:sp>
        <p:nvSpPr>
          <p:cNvPr id="15" name="Text 9">
            <a:extLst>
              <a:ext uri="{FF2B5EF4-FFF2-40B4-BE49-F238E27FC236}">
                <a16:creationId xmlns:a16="http://schemas.microsoft.com/office/drawing/2014/main" id="{06BB26B0-08DF-378F-DC23-CB79691B5350}"/>
              </a:ext>
            </a:extLst>
          </p:cNvPr>
          <p:cNvSpPr/>
          <p:nvPr/>
        </p:nvSpPr>
        <p:spPr>
          <a:xfrm>
            <a:off x="7269480" y="311810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 given</a:t>
            </a:r>
            <a:endParaRPr lang="en-US" sz="1150" dirty="0"/>
          </a:p>
        </p:txBody>
      </p:sp>
      <p:pic>
        <p:nvPicPr>
          <p:cNvPr id="16" name="Image 4" descr="preencoded.png">
            <a:extLst>
              <a:ext uri="{FF2B5EF4-FFF2-40B4-BE49-F238E27FC236}">
                <a16:creationId xmlns:a16="http://schemas.microsoft.com/office/drawing/2014/main" id="{89B3C904-411B-5F4A-04B0-5FB5295FD3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3483864"/>
            <a:ext cx="182880" cy="182880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335D1F16-C26C-46EA-CDDB-7061EA2460CE}"/>
              </a:ext>
            </a:extLst>
          </p:cNvPr>
          <p:cNvSpPr/>
          <p:nvPr/>
        </p:nvSpPr>
        <p:spPr>
          <a:xfrm>
            <a:off x="7269480" y="34290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/ recycling guidance</a:t>
            </a:r>
            <a:endParaRPr lang="en-US" sz="1150" dirty="0"/>
          </a:p>
        </p:txBody>
      </p:sp>
      <p:pic>
        <p:nvPicPr>
          <p:cNvPr id="18" name="Image 5" descr="preencoded.png">
            <a:extLst>
              <a:ext uri="{FF2B5EF4-FFF2-40B4-BE49-F238E27FC236}">
                <a16:creationId xmlns:a16="http://schemas.microsoft.com/office/drawing/2014/main" id="{40477501-D043-896A-E483-A19FE48B54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3794760"/>
            <a:ext cx="182880" cy="182880"/>
          </a:xfrm>
          <a:prstGeom prst="rect">
            <a:avLst/>
          </a:prstGeom>
        </p:spPr>
      </p:pic>
      <p:sp>
        <p:nvSpPr>
          <p:cNvPr id="19" name="Text 11">
            <a:extLst>
              <a:ext uri="{FF2B5EF4-FFF2-40B4-BE49-F238E27FC236}">
                <a16:creationId xmlns:a16="http://schemas.microsoft.com/office/drawing/2014/main" id="{CAA9FFA6-2ED6-FA5D-73CC-E06532E9327C}"/>
              </a:ext>
            </a:extLst>
          </p:cNvPr>
          <p:cNvSpPr/>
          <p:nvPr/>
        </p:nvSpPr>
        <p:spPr>
          <a:xfrm>
            <a:off x="7269480" y="373989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tip included</a:t>
            </a:r>
            <a:endParaRPr lang="en-US" sz="1150" dirty="0"/>
          </a:p>
        </p:txBody>
      </p:sp>
      <p:pic>
        <p:nvPicPr>
          <p:cNvPr id="20" name="Image 6" descr="preencoded.png">
            <a:extLst>
              <a:ext uri="{FF2B5EF4-FFF2-40B4-BE49-F238E27FC236}">
                <a16:creationId xmlns:a16="http://schemas.microsoft.com/office/drawing/2014/main" id="{54CC8383-D1B1-B7AE-1410-A64D680EB4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4105656"/>
            <a:ext cx="182880" cy="182880"/>
          </a:xfrm>
          <a:prstGeom prst="rect">
            <a:avLst/>
          </a:prstGeom>
        </p:spPr>
      </p:pic>
      <p:sp>
        <p:nvSpPr>
          <p:cNvPr id="21" name="Text 12">
            <a:extLst>
              <a:ext uri="{FF2B5EF4-FFF2-40B4-BE49-F238E27FC236}">
                <a16:creationId xmlns:a16="http://schemas.microsoft.com/office/drawing/2014/main" id="{2D18C0A5-EC8D-D65F-0168-BEA645CFFDE3}"/>
              </a:ext>
            </a:extLst>
          </p:cNvPr>
          <p:cNvSpPr/>
          <p:nvPr/>
        </p:nvSpPr>
        <p:spPr>
          <a:xfrm>
            <a:off x="7269480" y="405079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caution noted</a:t>
            </a:r>
            <a:endParaRPr lang="en-US" sz="1150" dirty="0"/>
          </a:p>
        </p:txBody>
      </p:sp>
      <p:pic>
        <p:nvPicPr>
          <p:cNvPr id="22" name="Image 7" descr="preencoded.png">
            <a:extLst>
              <a:ext uri="{FF2B5EF4-FFF2-40B4-BE49-F238E27FC236}">
                <a16:creationId xmlns:a16="http://schemas.microsoft.com/office/drawing/2014/main" id="{2E68C6C8-4ECD-C8E5-0843-DCE4C3102A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600000">
            <a:off x="3200400" y="2148840"/>
            <a:ext cx="320040" cy="320040"/>
          </a:xfrm>
          <a:prstGeom prst="rect">
            <a:avLst/>
          </a:prstGeom>
        </p:spPr>
      </p:pic>
      <p:sp>
        <p:nvSpPr>
          <p:cNvPr id="23" name="Shape 13">
            <a:extLst>
              <a:ext uri="{FF2B5EF4-FFF2-40B4-BE49-F238E27FC236}">
                <a16:creationId xmlns:a16="http://schemas.microsoft.com/office/drawing/2014/main" id="{C308732D-820D-BB39-87D1-ACBD346EA33A}"/>
              </a:ext>
            </a:extLst>
          </p:cNvPr>
          <p:cNvSpPr/>
          <p:nvPr/>
        </p:nvSpPr>
        <p:spPr>
          <a:xfrm>
            <a:off x="502920" y="4892040"/>
            <a:ext cx="11201400" cy="1188720"/>
          </a:xfrm>
          <a:prstGeom prst="roundRect">
            <a:avLst>
              <a:gd name="adj" fmla="val 9231"/>
            </a:avLst>
          </a:prstGeom>
          <a:solidFill>
            <a:srgbClr val="2D6A4F"/>
          </a:solidFill>
          <a:ln/>
        </p:spPr>
      </p:sp>
      <p:pic>
        <p:nvPicPr>
          <p:cNvPr id="24" name="Image 8" descr="preencoded.png">
            <a:extLst>
              <a:ext uri="{FF2B5EF4-FFF2-40B4-BE49-F238E27FC236}">
                <a16:creationId xmlns:a16="http://schemas.microsoft.com/office/drawing/2014/main" id="{AAAB3B71-5DF7-57D7-393F-F71A6C87E3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193792"/>
            <a:ext cx="502920" cy="502920"/>
          </a:xfrm>
          <a:prstGeom prst="rect">
            <a:avLst/>
          </a:prstGeom>
        </p:spPr>
      </p:pic>
      <p:sp>
        <p:nvSpPr>
          <p:cNvPr id="25" name="Text 14">
            <a:extLst>
              <a:ext uri="{FF2B5EF4-FFF2-40B4-BE49-F238E27FC236}">
                <a16:creationId xmlns:a16="http://schemas.microsoft.com/office/drawing/2014/main" id="{CDCD4CEB-C4C0-2B44-B7A0-B922A56A6B2C}"/>
              </a:ext>
            </a:extLst>
          </p:cNvPr>
          <p:cNvSpPr/>
          <p:nvPr/>
        </p:nvSpPr>
        <p:spPr>
          <a:xfrm>
            <a:off x="1463040" y="4937760"/>
            <a:ext cx="9966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 helps make AI responses structured, useful, consistent and responsible.</a:t>
            </a:r>
            <a:endParaRPr lang="en-US" sz="1600" dirty="0"/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0131EBF8-B344-BDD8-E4AD-91A2B6FCD2EB}"/>
              </a:ext>
            </a:extLst>
          </p:cNvPr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AI  |  1M1B AI for Sustainability Internship</a:t>
            </a:r>
            <a:endParaRPr lang="en-US" sz="900" dirty="0"/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89B3A420-7171-8D91-9B8B-D699FB41387D}"/>
              </a:ext>
            </a:extLst>
          </p:cNvPr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015123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927" y="126302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</p:sp>
      <p:sp>
        <p:nvSpPr>
          <p:cNvPr id="3" name="Text 1"/>
          <p:cNvSpPr/>
          <p:nvPr/>
        </p:nvSpPr>
        <p:spPr>
          <a:xfrm>
            <a:off x="499682" y="12630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92062"/>
            <a:ext cx="334651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BOB — Contribution &amp; Evidence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901440" y="56769"/>
            <a:ext cx="7897749" cy="560070"/>
          </a:xfrm>
          <a:prstGeom prst="roundRect">
            <a:avLst>
              <a:gd name="adj" fmla="val 11765"/>
            </a:avLst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4040695" y="114777"/>
            <a:ext cx="7619238" cy="450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was incorporated into the EcoSort AI project development process as an AI-assisted project-building and development tool.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712272" y="731329"/>
            <a:ext cx="6506147" cy="421387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8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11880" y="623317"/>
            <a:ext cx="640080" cy="64008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038" y="760857"/>
            <a:ext cx="352044" cy="3520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238434" y="760857"/>
            <a:ext cx="2514600" cy="1592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Ideation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234625" y="902399"/>
            <a:ext cx="2514600" cy="281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concept and structure</a:t>
            </a:r>
            <a:endParaRPr lang="en-US" sz="1050" dirty="0"/>
          </a:p>
        </p:txBody>
      </p:sp>
      <p:sp>
        <p:nvSpPr>
          <p:cNvPr id="38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AI  |  1M1B AI for Sustainability Internship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8CFC7669-6C16-2854-9D89-E7B5BE7083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143" y="1283972"/>
            <a:ext cx="11697714" cy="525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714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3F176-A98B-07B3-B736-804A5D754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7FF7AE-D896-6103-84A8-6E63E2357F62}"/>
              </a:ext>
            </a:extLst>
          </p:cNvPr>
          <p:cNvSpPr/>
          <p:nvPr/>
        </p:nvSpPr>
        <p:spPr>
          <a:xfrm>
            <a:off x="554927" y="126302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6BB9EDB-29DA-B078-5484-33A331D4B7C4}"/>
              </a:ext>
            </a:extLst>
          </p:cNvPr>
          <p:cNvSpPr/>
          <p:nvPr/>
        </p:nvSpPr>
        <p:spPr>
          <a:xfrm>
            <a:off x="499682" y="12630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0FC6B68-F1AE-9AB6-5B4B-54F4B5C51B53}"/>
              </a:ext>
            </a:extLst>
          </p:cNvPr>
          <p:cNvSpPr/>
          <p:nvPr/>
        </p:nvSpPr>
        <p:spPr>
          <a:xfrm>
            <a:off x="365760" y="492062"/>
            <a:ext cx="334651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BOB — Contribution &amp; Evidence</a:t>
            </a:r>
            <a:endParaRPr lang="en-US" sz="1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E9293B5-61F7-3E94-8E12-4EFE5E0E07A4}"/>
              </a:ext>
            </a:extLst>
          </p:cNvPr>
          <p:cNvSpPr/>
          <p:nvPr/>
        </p:nvSpPr>
        <p:spPr>
          <a:xfrm>
            <a:off x="3901440" y="56769"/>
            <a:ext cx="7897749" cy="560070"/>
          </a:xfrm>
          <a:prstGeom prst="roundRect">
            <a:avLst>
              <a:gd name="adj" fmla="val 11765"/>
            </a:avLst>
          </a:prstGeom>
          <a:solidFill>
            <a:srgbClr val="2D6A4F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3BCD512-BB3C-F2FC-4F57-46817E278501}"/>
              </a:ext>
            </a:extLst>
          </p:cNvPr>
          <p:cNvSpPr/>
          <p:nvPr/>
        </p:nvSpPr>
        <p:spPr>
          <a:xfrm>
            <a:off x="4040695" y="114777"/>
            <a:ext cx="7619238" cy="450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was incorporated into the EcoSort AI project development process as an AI-assisted project-building and development tool.</a:t>
            </a:r>
            <a:endParaRPr lang="en-US" sz="10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2B96E35-6B33-4CF7-4A2F-65E20374F974}"/>
              </a:ext>
            </a:extLst>
          </p:cNvPr>
          <p:cNvSpPr/>
          <p:nvPr/>
        </p:nvSpPr>
        <p:spPr>
          <a:xfrm>
            <a:off x="3712272" y="731329"/>
            <a:ext cx="6506147" cy="421387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8E2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19BBCC3-37D4-1F79-DB5D-E47C8B25D0D9}"/>
              </a:ext>
            </a:extLst>
          </p:cNvPr>
          <p:cNvSpPr/>
          <p:nvPr/>
        </p:nvSpPr>
        <p:spPr>
          <a:xfrm>
            <a:off x="3611880" y="623317"/>
            <a:ext cx="640080" cy="640080"/>
          </a:xfrm>
          <a:prstGeom prst="ellipse">
            <a:avLst/>
          </a:prstGeom>
          <a:solidFill>
            <a:srgbClr val="D8F3DC"/>
          </a:solidFill>
          <a:ln/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6E54E20-030B-63EC-D11F-9979523A01D3}"/>
              </a:ext>
            </a:extLst>
          </p:cNvPr>
          <p:cNvSpPr/>
          <p:nvPr/>
        </p:nvSpPr>
        <p:spPr>
          <a:xfrm>
            <a:off x="4238434" y="760857"/>
            <a:ext cx="2514600" cy="1592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3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F25058D-764F-FAF6-6F88-E9417437AA6F}"/>
              </a:ext>
            </a:extLst>
          </p:cNvPr>
          <p:cNvSpPr/>
          <p:nvPr/>
        </p:nvSpPr>
        <p:spPr>
          <a:xfrm>
            <a:off x="4234625" y="902399"/>
            <a:ext cx="2514600" cy="281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/ implementing components</a:t>
            </a:r>
            <a:endParaRPr lang="en-US" sz="1050" dirty="0"/>
          </a:p>
        </p:txBody>
      </p:sp>
      <p:sp>
        <p:nvSpPr>
          <p:cNvPr id="38" name="Text 30">
            <a:extLst>
              <a:ext uri="{FF2B5EF4-FFF2-40B4-BE49-F238E27FC236}">
                <a16:creationId xmlns:a16="http://schemas.microsoft.com/office/drawing/2014/main" id="{529B2526-4488-4AD1-B549-A3BF1C3F475E}"/>
              </a:ext>
            </a:extLst>
          </p:cNvPr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AI  |  1M1B AI for Sustainability Internship</a:t>
            </a:r>
            <a:endParaRPr lang="en-US" sz="900" dirty="0"/>
          </a:p>
        </p:txBody>
      </p:sp>
      <p:sp>
        <p:nvSpPr>
          <p:cNvPr id="39" name="Text 31">
            <a:extLst>
              <a:ext uri="{FF2B5EF4-FFF2-40B4-BE49-F238E27FC236}">
                <a16:creationId xmlns:a16="http://schemas.microsoft.com/office/drawing/2014/main" id="{A9F744E9-0059-5EE9-1552-906D7E257158}"/>
              </a:ext>
            </a:extLst>
          </p:cNvPr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62C98C2C-F411-5F97-E6C9-F7EC83F6C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898" y="744094"/>
            <a:ext cx="352044" cy="3520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4C353CE-174F-2046-1D88-75573909E9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815" y="1237680"/>
            <a:ext cx="11744014" cy="530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831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29DBA-3384-C56B-CEA5-3FA0D2E10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E1238C0-A342-445A-1367-7C7AB4DB18D0}"/>
              </a:ext>
            </a:extLst>
          </p:cNvPr>
          <p:cNvSpPr/>
          <p:nvPr/>
        </p:nvSpPr>
        <p:spPr>
          <a:xfrm>
            <a:off x="554927" y="126302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6EF6EAB-FB2C-027A-6ACC-5F01FFAD3239}"/>
              </a:ext>
            </a:extLst>
          </p:cNvPr>
          <p:cNvSpPr/>
          <p:nvPr/>
        </p:nvSpPr>
        <p:spPr>
          <a:xfrm>
            <a:off x="499682" y="12630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3833B5E-9DEC-1B36-D539-7A4E7D3BB10D}"/>
              </a:ext>
            </a:extLst>
          </p:cNvPr>
          <p:cNvSpPr/>
          <p:nvPr/>
        </p:nvSpPr>
        <p:spPr>
          <a:xfrm>
            <a:off x="365760" y="492062"/>
            <a:ext cx="334651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BOB — Contribution &amp; Evidence</a:t>
            </a:r>
            <a:endParaRPr lang="en-US" sz="1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37A3C11-D7F8-BE4F-2143-0FE06D187178}"/>
              </a:ext>
            </a:extLst>
          </p:cNvPr>
          <p:cNvSpPr/>
          <p:nvPr/>
        </p:nvSpPr>
        <p:spPr>
          <a:xfrm>
            <a:off x="3901440" y="56769"/>
            <a:ext cx="7897749" cy="560070"/>
          </a:xfrm>
          <a:prstGeom prst="roundRect">
            <a:avLst>
              <a:gd name="adj" fmla="val 11765"/>
            </a:avLst>
          </a:prstGeom>
          <a:solidFill>
            <a:srgbClr val="2D6A4F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E4D22C8-63D7-CECB-87DA-BC9F4C9B60CA}"/>
              </a:ext>
            </a:extLst>
          </p:cNvPr>
          <p:cNvSpPr/>
          <p:nvPr/>
        </p:nvSpPr>
        <p:spPr>
          <a:xfrm>
            <a:off x="4040695" y="114777"/>
            <a:ext cx="7619238" cy="450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was incorporated into the EcoSort AI project development process as an AI-assisted project-building and development tool.</a:t>
            </a:r>
            <a:endParaRPr lang="en-US" sz="10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D563606-DEF3-2DAF-5C82-AEB1397B5F2F}"/>
              </a:ext>
            </a:extLst>
          </p:cNvPr>
          <p:cNvSpPr/>
          <p:nvPr/>
        </p:nvSpPr>
        <p:spPr>
          <a:xfrm>
            <a:off x="3712272" y="731329"/>
            <a:ext cx="6506147" cy="421387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8E2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A5E4011-9833-FC58-73DB-081AE401314F}"/>
              </a:ext>
            </a:extLst>
          </p:cNvPr>
          <p:cNvSpPr/>
          <p:nvPr/>
        </p:nvSpPr>
        <p:spPr>
          <a:xfrm>
            <a:off x="3611880" y="623317"/>
            <a:ext cx="640080" cy="640080"/>
          </a:xfrm>
          <a:prstGeom prst="ellipse">
            <a:avLst/>
          </a:prstGeom>
          <a:solidFill>
            <a:srgbClr val="D8F3DC"/>
          </a:solidFill>
          <a:ln/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D26CD34-523C-EDAF-4480-0591E38BCA12}"/>
              </a:ext>
            </a:extLst>
          </p:cNvPr>
          <p:cNvSpPr/>
          <p:nvPr/>
        </p:nvSpPr>
        <p:spPr>
          <a:xfrm>
            <a:off x="4238434" y="760857"/>
            <a:ext cx="2514600" cy="1592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</a:t>
            </a:r>
            <a:endParaRPr lang="en-US" sz="13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9DBFE7A-351E-FE7D-407E-65377832CDEE}"/>
              </a:ext>
            </a:extLst>
          </p:cNvPr>
          <p:cNvSpPr/>
          <p:nvPr/>
        </p:nvSpPr>
        <p:spPr>
          <a:xfrm>
            <a:off x="4234625" y="902399"/>
            <a:ext cx="2514600" cy="281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and testing the prototype</a:t>
            </a:r>
            <a:endParaRPr lang="en-US" sz="1050" dirty="0"/>
          </a:p>
        </p:txBody>
      </p:sp>
      <p:sp>
        <p:nvSpPr>
          <p:cNvPr id="38" name="Text 30">
            <a:extLst>
              <a:ext uri="{FF2B5EF4-FFF2-40B4-BE49-F238E27FC236}">
                <a16:creationId xmlns:a16="http://schemas.microsoft.com/office/drawing/2014/main" id="{F4D6C1B2-2854-3D44-70F0-E190E26C8EAF}"/>
              </a:ext>
            </a:extLst>
          </p:cNvPr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AI  |  1M1B AI for Sustainability Internship</a:t>
            </a:r>
            <a:endParaRPr lang="en-US" sz="900" dirty="0"/>
          </a:p>
        </p:txBody>
      </p:sp>
      <p:sp>
        <p:nvSpPr>
          <p:cNvPr id="39" name="Text 31">
            <a:extLst>
              <a:ext uri="{FF2B5EF4-FFF2-40B4-BE49-F238E27FC236}">
                <a16:creationId xmlns:a16="http://schemas.microsoft.com/office/drawing/2014/main" id="{9E34CABF-A6A2-A063-1F46-0DC642CF2C2B}"/>
              </a:ext>
            </a:extLst>
          </p:cNvPr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DFDA5294-B4E3-CEA9-0CB5-5D79818D9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7231" y="760857"/>
            <a:ext cx="352044" cy="3520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2E5E76A-0BE7-9887-B6A6-970168C112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764" y="1152716"/>
            <a:ext cx="11682472" cy="543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750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2584E-45DD-58A2-51EC-2893245FF7D9}"/>
              </a:ext>
            </a:extLst>
          </p:cNvPr>
          <p:cNvSpPr/>
          <p:nvPr/>
        </p:nvSpPr>
        <p:spPr>
          <a:xfrm>
            <a:off x="3023118" y="205273"/>
            <a:ext cx="4674637" cy="41987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Some Screenshots Of Project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A46C2A-081D-99F7-5733-DD89F4C02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894" y="943938"/>
            <a:ext cx="7750212" cy="558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110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4C31C8-499E-471C-D7A3-AB2B440A7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67" y="335902"/>
            <a:ext cx="5710335" cy="49640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F742BD-60CB-CAEF-9C82-832735286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527" y="335903"/>
            <a:ext cx="5884506" cy="560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3017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31149C-76D2-8C8D-DBE8-3B925B5B5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377" y="500269"/>
            <a:ext cx="8131245" cy="554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3152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39F563-E3EA-5924-83C2-21D453A7D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481" y="662700"/>
            <a:ext cx="8055038" cy="553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0072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&amp; PRINCIPLES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Thinking + Responsible AI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2148840" cy="1417320"/>
          </a:xfrm>
          <a:prstGeom prst="roundRect">
            <a:avLst>
              <a:gd name="adj" fmla="val 6452"/>
            </a:avLst>
          </a:prstGeom>
          <a:solidFill>
            <a:srgbClr val="2D6A4F"/>
          </a:solidFill>
          <a:ln/>
        </p:spPr>
      </p:sp>
      <p:sp>
        <p:nvSpPr>
          <p:cNvPr id="7" name="Shape 5"/>
          <p:cNvSpPr/>
          <p:nvPr/>
        </p:nvSpPr>
        <p:spPr>
          <a:xfrm>
            <a:off x="1284732" y="18745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6406" y="2006194"/>
            <a:ext cx="321869" cy="32186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6072" y="2487168"/>
            <a:ext cx="2002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Empathize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94360" y="27432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real waste-handling struggles</a:t>
            </a:r>
            <a:endParaRPr lang="en-US" sz="8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332" y="2331720"/>
            <a:ext cx="128016" cy="12801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79776" y="1737360"/>
            <a:ext cx="2148840" cy="1417320"/>
          </a:xfrm>
          <a:prstGeom prst="roundRect">
            <a:avLst>
              <a:gd name="adj" fmla="val 6452"/>
            </a:avLst>
          </a:prstGeom>
          <a:solidFill>
            <a:srgbClr val="2D6A4F"/>
          </a:solidFill>
          <a:ln/>
        </p:spPr>
      </p:sp>
      <p:sp>
        <p:nvSpPr>
          <p:cNvPr id="13" name="Shape 9"/>
          <p:cNvSpPr/>
          <p:nvPr/>
        </p:nvSpPr>
        <p:spPr>
          <a:xfrm>
            <a:off x="3561588" y="18745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3262" y="2006194"/>
            <a:ext cx="321869" cy="3218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852928" y="2487168"/>
            <a:ext cx="2002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2871216" y="27432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the core sustainability problem</a:t>
            </a:r>
            <a:endParaRPr lang="en-US" sz="8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3188" y="2331720"/>
            <a:ext cx="128016" cy="12801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056632" y="1737360"/>
            <a:ext cx="2148840" cy="1417320"/>
          </a:xfrm>
          <a:prstGeom prst="roundRect">
            <a:avLst>
              <a:gd name="adj" fmla="val 6452"/>
            </a:avLst>
          </a:prstGeom>
          <a:solidFill>
            <a:srgbClr val="2D6A4F"/>
          </a:solidFill>
          <a:ln/>
        </p:spPr>
      </p:sp>
      <p:sp>
        <p:nvSpPr>
          <p:cNvPr id="19" name="Shape 13"/>
          <p:cNvSpPr/>
          <p:nvPr/>
        </p:nvSpPr>
        <p:spPr>
          <a:xfrm>
            <a:off x="5838444" y="18745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0118" y="2006194"/>
            <a:ext cx="321869" cy="32186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129784" y="2487168"/>
            <a:ext cx="2002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5148072" y="27432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AI-assisted solution ideas</a:t>
            </a:r>
            <a:endParaRPr lang="en-US" sz="8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0044" y="2331720"/>
            <a:ext cx="128016" cy="128016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7333488" y="1737360"/>
            <a:ext cx="2148840" cy="1417320"/>
          </a:xfrm>
          <a:prstGeom prst="roundRect">
            <a:avLst>
              <a:gd name="adj" fmla="val 6452"/>
            </a:avLst>
          </a:prstGeom>
          <a:solidFill>
            <a:srgbClr val="2D6A4F"/>
          </a:solidFill>
          <a:ln/>
        </p:spPr>
      </p:sp>
      <p:sp>
        <p:nvSpPr>
          <p:cNvPr id="25" name="Shape 17"/>
          <p:cNvSpPr/>
          <p:nvPr/>
        </p:nvSpPr>
        <p:spPr>
          <a:xfrm>
            <a:off x="8115300" y="18745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6974" y="2006194"/>
            <a:ext cx="321869" cy="321869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406640" y="2487168"/>
            <a:ext cx="2002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150" dirty="0"/>
          </a:p>
        </p:txBody>
      </p:sp>
      <p:sp>
        <p:nvSpPr>
          <p:cNvPr id="28" name="Text 19"/>
          <p:cNvSpPr/>
          <p:nvPr/>
        </p:nvSpPr>
        <p:spPr>
          <a:xfrm>
            <a:off x="7424928" y="27432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EcoSort AI assistant</a:t>
            </a:r>
            <a:endParaRPr lang="en-US" sz="85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0" y="2331720"/>
            <a:ext cx="128016" cy="128016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9610344" y="1737360"/>
            <a:ext cx="2148840" cy="1417320"/>
          </a:xfrm>
          <a:prstGeom prst="roundRect">
            <a:avLst>
              <a:gd name="adj" fmla="val 6452"/>
            </a:avLst>
          </a:prstGeom>
          <a:solidFill>
            <a:srgbClr val="2D6A4F"/>
          </a:solidFill>
          <a:ln/>
        </p:spPr>
      </p:sp>
      <p:sp>
        <p:nvSpPr>
          <p:cNvPr id="31" name="Shape 21"/>
          <p:cNvSpPr/>
          <p:nvPr/>
        </p:nvSpPr>
        <p:spPr>
          <a:xfrm>
            <a:off x="10392156" y="18745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23830" y="2006194"/>
            <a:ext cx="321869" cy="321869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9683496" y="2487168"/>
            <a:ext cx="2002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Refine</a:t>
            </a:r>
            <a:endParaRPr lang="en-US" sz="1150" dirty="0"/>
          </a:p>
        </p:txBody>
      </p:sp>
      <p:sp>
        <p:nvSpPr>
          <p:cNvPr id="34" name="Text 23"/>
          <p:cNvSpPr/>
          <p:nvPr/>
        </p:nvSpPr>
        <p:spPr>
          <a:xfrm>
            <a:off x="9701784" y="27432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based on feedback</a:t>
            </a:r>
            <a:endParaRPr lang="en-US" sz="850" dirty="0"/>
          </a:p>
        </p:txBody>
      </p:sp>
      <p:sp>
        <p:nvSpPr>
          <p:cNvPr id="35" name="Text 24"/>
          <p:cNvSpPr/>
          <p:nvPr/>
        </p:nvSpPr>
        <p:spPr>
          <a:xfrm>
            <a:off x="502920" y="3429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100" dirty="0"/>
          </a:p>
        </p:txBody>
      </p:sp>
      <p:sp>
        <p:nvSpPr>
          <p:cNvPr id="36" name="Shape 25"/>
          <p:cNvSpPr/>
          <p:nvPr/>
        </p:nvSpPr>
        <p:spPr>
          <a:xfrm>
            <a:off x="502920" y="3749040"/>
            <a:ext cx="2148840" cy="26060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8E2"/>
            </a:solidFill>
            <a:prstDash val="solid"/>
          </a:ln>
          <a:effectLst>
            <a:outerShdw blurRad="76200" dist="25400" dir="5400000" algn="bl" rotWithShape="0">
              <a:srgbClr val="1B4332">
                <a:alpha val="10000"/>
              </a:srgbClr>
            </a:outerShdw>
          </a:effectLst>
        </p:spPr>
      </p:sp>
      <p:sp>
        <p:nvSpPr>
          <p:cNvPr id="37" name="Shape 26"/>
          <p:cNvSpPr/>
          <p:nvPr/>
        </p:nvSpPr>
        <p:spPr>
          <a:xfrm>
            <a:off x="1303020" y="3950208"/>
            <a:ext cx="548640" cy="54864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6464" y="4073652"/>
            <a:ext cx="301752" cy="301752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576072" y="4572000"/>
            <a:ext cx="2002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200" dirty="0"/>
          </a:p>
        </p:txBody>
      </p:sp>
      <p:sp>
        <p:nvSpPr>
          <p:cNvPr id="40" name="Text 28"/>
          <p:cNvSpPr/>
          <p:nvPr/>
        </p:nvSpPr>
        <p:spPr>
          <a:xfrm>
            <a:off x="612648" y="4864608"/>
            <a:ext cx="19293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biased assumptions</a:t>
            </a:r>
            <a:endParaRPr lang="en-US" sz="950" dirty="0"/>
          </a:p>
        </p:txBody>
      </p:sp>
      <p:sp>
        <p:nvSpPr>
          <p:cNvPr id="41" name="Shape 29"/>
          <p:cNvSpPr/>
          <p:nvPr/>
        </p:nvSpPr>
        <p:spPr>
          <a:xfrm>
            <a:off x="2779776" y="3749040"/>
            <a:ext cx="2148840" cy="26060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8E2"/>
            </a:solidFill>
            <a:prstDash val="solid"/>
          </a:ln>
          <a:effectLst>
            <a:outerShdw blurRad="76200" dist="25400" dir="5400000" algn="bl" rotWithShape="0">
              <a:srgbClr val="1B4332">
                <a:alpha val="10000"/>
              </a:srgbClr>
            </a:outerShdw>
          </a:effectLst>
        </p:spPr>
      </p:sp>
      <p:sp>
        <p:nvSpPr>
          <p:cNvPr id="42" name="Shape 30"/>
          <p:cNvSpPr/>
          <p:nvPr/>
        </p:nvSpPr>
        <p:spPr>
          <a:xfrm>
            <a:off x="3579876" y="3950208"/>
            <a:ext cx="548640" cy="54864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03320" y="4073652"/>
            <a:ext cx="301752" cy="301752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2852928" y="4572000"/>
            <a:ext cx="2002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200" dirty="0"/>
          </a:p>
        </p:txBody>
      </p:sp>
      <p:sp>
        <p:nvSpPr>
          <p:cNvPr id="45" name="Text 32"/>
          <p:cNvSpPr/>
          <p:nvPr/>
        </p:nvSpPr>
        <p:spPr>
          <a:xfrm>
            <a:off x="2889504" y="4864608"/>
            <a:ext cx="19293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AI guidance clear</a:t>
            </a:r>
            <a:endParaRPr lang="en-US" sz="950" dirty="0"/>
          </a:p>
        </p:txBody>
      </p:sp>
      <p:sp>
        <p:nvSpPr>
          <p:cNvPr id="46" name="Shape 33"/>
          <p:cNvSpPr/>
          <p:nvPr/>
        </p:nvSpPr>
        <p:spPr>
          <a:xfrm>
            <a:off x="5056632" y="3749040"/>
            <a:ext cx="2148840" cy="26060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8E2"/>
            </a:solidFill>
            <a:prstDash val="solid"/>
          </a:ln>
          <a:effectLst>
            <a:outerShdw blurRad="76200" dist="25400" dir="5400000" algn="bl" rotWithShape="0">
              <a:srgbClr val="1B4332">
                <a:alpha val="10000"/>
              </a:srgbClr>
            </a:outerShdw>
          </a:effectLst>
        </p:spPr>
      </p:sp>
      <p:sp>
        <p:nvSpPr>
          <p:cNvPr id="47" name="Shape 34"/>
          <p:cNvSpPr/>
          <p:nvPr/>
        </p:nvSpPr>
        <p:spPr>
          <a:xfrm>
            <a:off x="5856732" y="3950208"/>
            <a:ext cx="548640" cy="54864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80176" y="4073652"/>
            <a:ext cx="301752" cy="301752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5129784" y="4572000"/>
            <a:ext cx="2002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200" dirty="0"/>
          </a:p>
        </p:txBody>
      </p:sp>
      <p:sp>
        <p:nvSpPr>
          <p:cNvPr id="50" name="Text 36"/>
          <p:cNvSpPr/>
          <p:nvPr/>
        </p:nvSpPr>
        <p:spPr>
          <a:xfrm>
            <a:off x="5166360" y="4864608"/>
            <a:ext cx="19293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unnecessary personal data</a:t>
            </a:r>
            <a:endParaRPr lang="en-US" sz="950" dirty="0"/>
          </a:p>
        </p:txBody>
      </p:sp>
      <p:sp>
        <p:nvSpPr>
          <p:cNvPr id="51" name="Shape 37"/>
          <p:cNvSpPr/>
          <p:nvPr/>
        </p:nvSpPr>
        <p:spPr>
          <a:xfrm>
            <a:off x="7333488" y="3749040"/>
            <a:ext cx="2148840" cy="26060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8E2"/>
            </a:solidFill>
            <a:prstDash val="solid"/>
          </a:ln>
          <a:effectLst>
            <a:outerShdw blurRad="76200" dist="25400" dir="5400000" algn="bl" rotWithShape="0">
              <a:srgbClr val="1B4332">
                <a:alpha val="10000"/>
              </a:srgbClr>
            </a:outerShdw>
          </a:effectLst>
        </p:spPr>
      </p:sp>
      <p:sp>
        <p:nvSpPr>
          <p:cNvPr id="52" name="Shape 38"/>
          <p:cNvSpPr/>
          <p:nvPr/>
        </p:nvSpPr>
        <p:spPr>
          <a:xfrm>
            <a:off x="8133588" y="3950208"/>
            <a:ext cx="548640" cy="54864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53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57032" y="4073652"/>
            <a:ext cx="301752" cy="301752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7406640" y="4572000"/>
            <a:ext cx="2002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200" dirty="0"/>
          </a:p>
        </p:txBody>
      </p:sp>
      <p:sp>
        <p:nvSpPr>
          <p:cNvPr id="55" name="Text 40"/>
          <p:cNvSpPr/>
          <p:nvPr/>
        </p:nvSpPr>
        <p:spPr>
          <a:xfrm>
            <a:off x="7443216" y="4864608"/>
            <a:ext cx="19293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harmful or misleading advice</a:t>
            </a:r>
            <a:endParaRPr lang="en-US" sz="950" dirty="0"/>
          </a:p>
        </p:txBody>
      </p:sp>
      <p:sp>
        <p:nvSpPr>
          <p:cNvPr id="56" name="Shape 41"/>
          <p:cNvSpPr/>
          <p:nvPr/>
        </p:nvSpPr>
        <p:spPr>
          <a:xfrm>
            <a:off x="9610344" y="3749040"/>
            <a:ext cx="2148840" cy="26060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8E2"/>
            </a:solidFill>
            <a:prstDash val="solid"/>
          </a:ln>
          <a:effectLst>
            <a:outerShdw blurRad="76200" dist="25400" dir="5400000" algn="bl" rotWithShape="0">
              <a:srgbClr val="1B4332">
                <a:alpha val="10000"/>
              </a:srgbClr>
            </a:outerShdw>
          </a:effectLst>
        </p:spPr>
      </p:sp>
      <p:sp>
        <p:nvSpPr>
          <p:cNvPr id="57" name="Shape 42"/>
          <p:cNvSpPr/>
          <p:nvPr/>
        </p:nvSpPr>
        <p:spPr>
          <a:xfrm>
            <a:off x="10410444" y="3950208"/>
            <a:ext cx="548640" cy="54864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58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33888" y="4073652"/>
            <a:ext cx="301752" cy="301752"/>
          </a:xfrm>
          <a:prstGeom prst="rect">
            <a:avLst/>
          </a:prstGeom>
        </p:spPr>
      </p:pic>
      <p:sp>
        <p:nvSpPr>
          <p:cNvPr id="59" name="Text 43"/>
          <p:cNvSpPr/>
          <p:nvPr/>
        </p:nvSpPr>
        <p:spPr>
          <a:xfrm>
            <a:off x="9683496" y="4572000"/>
            <a:ext cx="2002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1200" dirty="0"/>
          </a:p>
        </p:txBody>
      </p:sp>
      <p:sp>
        <p:nvSpPr>
          <p:cNvPr id="60" name="Text 44"/>
          <p:cNvSpPr/>
          <p:nvPr/>
        </p:nvSpPr>
        <p:spPr>
          <a:xfrm>
            <a:off x="9720072" y="4864608"/>
            <a:ext cx="19293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that local rules may differ</a:t>
            </a:r>
            <a:endParaRPr lang="en-US" sz="950" dirty="0"/>
          </a:p>
        </p:txBody>
      </p:sp>
      <p:sp>
        <p:nvSpPr>
          <p:cNvPr id="61" name="Text 4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AI  |  1M1B AI for Sustainability Internship</a:t>
            </a:r>
            <a:endParaRPr lang="en-US" sz="900" dirty="0"/>
          </a:p>
        </p:txBody>
      </p:sp>
      <p:sp>
        <p:nvSpPr>
          <p:cNvPr id="62" name="Text 4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FORWARD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Potential / Expected Impact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outcomes EcoSort AI aims to support — not measured results.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3611880" cy="416052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1E8E2"/>
            </a:solidFill>
            <a:prstDash val="solid"/>
          </a:ln>
          <a:effectLst>
            <a:outerShdw blurRad="76200" dist="25400" dir="5400000" algn="bl" rotWithShape="0">
              <a:srgbClr val="1B4332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96596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2D6A4F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514600"/>
            <a:ext cx="3611880" cy="3657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9" name="Shape 7"/>
          <p:cNvSpPr/>
          <p:nvPr/>
        </p:nvSpPr>
        <p:spPr>
          <a:xfrm>
            <a:off x="1961388" y="2148840"/>
            <a:ext cx="694944" cy="6949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7750" y="2305202"/>
            <a:ext cx="382219" cy="38221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29718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</a:t>
            </a:r>
            <a:endParaRPr lang="en-US" sz="16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502152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33272" y="34290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waste-segregation awareness</a:t>
            </a:r>
            <a:endParaRPr lang="en-US" sz="11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4279392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33272" y="420624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recycling / reuse awareness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5056632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33272" y="49834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responsible waste decisions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297680" y="1965960"/>
            <a:ext cx="3611880" cy="416052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1E8E2"/>
            </a:solidFill>
            <a:prstDash val="solid"/>
          </a:ln>
          <a:effectLst>
            <a:outerShdw blurRad="76200" dist="25400" dir="5400000" algn="bl" rotWithShape="0">
              <a:srgbClr val="1B4332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297680" y="196596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2D6A4F"/>
          </a:solidFill>
          <a:ln/>
        </p:spPr>
      </p:sp>
      <p:sp>
        <p:nvSpPr>
          <p:cNvPr id="20" name="Shape 14"/>
          <p:cNvSpPr/>
          <p:nvPr/>
        </p:nvSpPr>
        <p:spPr>
          <a:xfrm>
            <a:off x="4297680" y="2514600"/>
            <a:ext cx="3611880" cy="3657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1" name="Shape 15"/>
          <p:cNvSpPr/>
          <p:nvPr/>
        </p:nvSpPr>
        <p:spPr>
          <a:xfrm>
            <a:off x="5756148" y="2148840"/>
            <a:ext cx="694944" cy="6949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2510" y="2305202"/>
            <a:ext cx="382219" cy="38221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297680" y="29718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</a:t>
            </a:r>
            <a:endParaRPr lang="en-US" sz="16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3502152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828032" y="34290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sustainability guidance</a:t>
            </a:r>
            <a:endParaRPr lang="en-US" sz="11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4279392"/>
            <a:ext cx="201168" cy="20116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4828032" y="420624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awareness among students</a:t>
            </a:r>
            <a:endParaRPr lang="en-US" sz="11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5056632"/>
            <a:ext cx="201168" cy="20116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4828032" y="49834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community engagement</a:t>
            </a:r>
            <a:endParaRPr lang="en-US" sz="1100" dirty="0"/>
          </a:p>
        </p:txBody>
      </p:sp>
      <p:sp>
        <p:nvSpPr>
          <p:cNvPr id="30" name="Shape 20"/>
          <p:cNvSpPr/>
          <p:nvPr/>
        </p:nvSpPr>
        <p:spPr>
          <a:xfrm>
            <a:off x="8092440" y="1965960"/>
            <a:ext cx="3611880" cy="416052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1E8E2"/>
            </a:solidFill>
            <a:prstDash val="solid"/>
          </a:ln>
          <a:effectLst>
            <a:outerShdw blurRad="76200" dist="25400" dir="5400000" algn="bl" rotWithShape="0">
              <a:srgbClr val="1B4332">
                <a:alpha val="10000"/>
              </a:srgbClr>
            </a:outerShdw>
          </a:effectLst>
        </p:spPr>
      </p:sp>
      <p:sp>
        <p:nvSpPr>
          <p:cNvPr id="31" name="Shape 21"/>
          <p:cNvSpPr/>
          <p:nvPr/>
        </p:nvSpPr>
        <p:spPr>
          <a:xfrm>
            <a:off x="8092440" y="196596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2D6A4F"/>
          </a:solidFill>
          <a:ln/>
        </p:spPr>
      </p:sp>
      <p:sp>
        <p:nvSpPr>
          <p:cNvPr id="32" name="Shape 22"/>
          <p:cNvSpPr/>
          <p:nvPr/>
        </p:nvSpPr>
        <p:spPr>
          <a:xfrm>
            <a:off x="8092440" y="2514600"/>
            <a:ext cx="3611880" cy="3657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3" name="Shape 23"/>
          <p:cNvSpPr/>
          <p:nvPr/>
        </p:nvSpPr>
        <p:spPr>
          <a:xfrm>
            <a:off x="9550908" y="2148840"/>
            <a:ext cx="694944" cy="6949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7270" y="2305202"/>
            <a:ext cx="382219" cy="382219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8092440" y="29718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</a:t>
            </a:r>
            <a:endParaRPr lang="en-US" sz="160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72" y="3502152"/>
            <a:ext cx="201168" cy="201168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8622792" y="34290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resource recovery &amp; reuse</a:t>
            </a:r>
            <a:endParaRPr lang="en-US" sz="1100" dirty="0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72" y="4279392"/>
            <a:ext cx="201168" cy="201168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8622792" y="420624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Potentially more efficient handling</a:t>
            </a:r>
            <a:endParaRPr lang="en-US" sz="1100" dirty="0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72" y="5056632"/>
            <a:ext cx="201168" cy="201168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8622792" y="49834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circular-economy thinking</a:t>
            </a:r>
            <a:endParaRPr lang="en-US" sz="1100" dirty="0"/>
          </a:p>
        </p:txBody>
      </p:sp>
      <p:sp>
        <p:nvSpPr>
          <p:cNvPr id="42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AI  |  1M1B AI for Sustainability Internship</a:t>
            </a:r>
            <a:endParaRPr lang="en-US" sz="900" dirty="0"/>
          </a:p>
        </p:txBody>
      </p:sp>
      <p:sp>
        <p:nvSpPr>
          <p:cNvPr id="43" name="Text 29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4206240" cy="4206240"/>
          </a:xfrm>
          <a:prstGeom prst="ellipse">
            <a:avLst/>
          </a:prstGeom>
          <a:solidFill>
            <a:srgbClr val="2D6A4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474720" cy="3474720"/>
          </a:xfrm>
          <a:prstGeom prst="ellipse">
            <a:avLst/>
          </a:prstGeom>
          <a:solidFill>
            <a:srgbClr val="2D6A4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234B3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8404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EcoSort AI Demonstrates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234B37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17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Problem</a:t>
            </a:r>
            <a:endParaRPr lang="en-US" sz="10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736" y="1540764"/>
            <a:ext cx="219456" cy="21945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715768" y="141732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234B37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15768" y="1417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12</a:t>
            </a:r>
            <a:endParaRPr lang="en-US" sz="10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584" y="1540764"/>
            <a:ext cx="219456" cy="21945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928616" y="141732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234B37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928616" y="1417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Assistance</a:t>
            </a:r>
            <a:endParaRPr lang="en-US" sz="10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540764"/>
            <a:ext cx="219456" cy="21945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141464" y="141732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234B37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141464" y="1417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0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1540764"/>
            <a:ext cx="219456" cy="219456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9354312" y="141732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234B37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9354312" y="1417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Impact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502920" y="2286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 (not current features)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02920" y="2651760"/>
            <a:ext cx="384048" cy="384048"/>
          </a:xfrm>
          <a:prstGeom prst="ellipse">
            <a:avLst/>
          </a:prstGeom>
          <a:solidFill>
            <a:srgbClr val="E9C46A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31" y="2738171"/>
            <a:ext cx="211226" cy="21122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78408" y="2651760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Image-based waste recognition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6263640" y="2651760"/>
            <a:ext cx="384048" cy="384048"/>
          </a:xfrm>
          <a:prstGeom prst="ellipse">
            <a:avLst/>
          </a:prstGeom>
          <a:solidFill>
            <a:srgbClr val="E9C46A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51" y="2738171"/>
            <a:ext cx="211226" cy="21122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739128" y="2651760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assistance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502920" y="3154680"/>
            <a:ext cx="384048" cy="384048"/>
          </a:xfrm>
          <a:prstGeom prst="ellipse">
            <a:avLst/>
          </a:prstGeom>
          <a:solidFill>
            <a:srgbClr val="E9C46A"/>
          </a:solidFill>
          <a:ln/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331" y="3241091"/>
            <a:ext cx="211226" cy="21122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78408" y="3154680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waste-management guidance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6263640" y="3154680"/>
            <a:ext cx="384048" cy="384048"/>
          </a:xfrm>
          <a:prstGeom prst="ellipse">
            <a:avLst/>
          </a:prstGeom>
          <a:solidFill>
            <a:srgbClr val="E9C46A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0051" y="3241091"/>
            <a:ext cx="211226" cy="211226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739128" y="3154680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waste analytics</a:t>
            </a:r>
            <a:endParaRPr lang="en-US" sz="1200" dirty="0"/>
          </a:p>
        </p:txBody>
      </p:sp>
      <p:sp>
        <p:nvSpPr>
          <p:cNvPr id="34" name="Shape 24"/>
          <p:cNvSpPr/>
          <p:nvPr/>
        </p:nvSpPr>
        <p:spPr>
          <a:xfrm>
            <a:off x="502920" y="3657600"/>
            <a:ext cx="384048" cy="384048"/>
          </a:xfrm>
          <a:prstGeom prst="ellipse">
            <a:avLst/>
          </a:prstGeom>
          <a:solidFill>
            <a:srgbClr val="E9C46A"/>
          </a:solidFill>
          <a:ln/>
        </p:spPr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331" y="3744011"/>
            <a:ext cx="211226" cy="211226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78408" y="3657600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advanced waste classification</a:t>
            </a:r>
            <a:endParaRPr lang="en-US" sz="1200" dirty="0"/>
          </a:p>
        </p:txBody>
      </p:sp>
      <p:sp>
        <p:nvSpPr>
          <p:cNvPr id="37" name="Shape 26"/>
          <p:cNvSpPr/>
          <p:nvPr/>
        </p:nvSpPr>
        <p:spPr>
          <a:xfrm>
            <a:off x="502920" y="5074920"/>
            <a:ext cx="11155680" cy="0"/>
          </a:xfrm>
          <a:prstGeom prst="line">
            <a:avLst/>
          </a:prstGeom>
          <a:noFill/>
          <a:ln w="12700">
            <a:solidFill>
              <a:srgbClr val="3E6B54"/>
            </a:solidFill>
            <a:prstDash val="solid"/>
          </a:ln>
        </p:spPr>
      </p:sp>
      <p:sp>
        <p:nvSpPr>
          <p:cNvPr id="38" name="Text 27"/>
          <p:cNvSpPr/>
          <p:nvPr/>
        </p:nvSpPr>
        <p:spPr>
          <a:xfrm>
            <a:off x="502920" y="521208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“AI can create meaningful impact by helping people make better everyday sustainability decisions.”</a:t>
            </a:r>
            <a:endParaRPr lang="en-US" sz="1700" dirty="0"/>
          </a:p>
        </p:txBody>
      </p:sp>
      <p:sp>
        <p:nvSpPr>
          <p:cNvPr id="39" name="Text 28"/>
          <p:cNvSpPr/>
          <p:nvPr/>
        </p:nvSpPr>
        <p:spPr>
          <a:xfrm>
            <a:off x="502920" y="59893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250" dirty="0">
                <a:solidFill>
                  <a:srgbClr val="B7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 Kumar  |  NIAMT, Ranchi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1396</Words>
  <Application>Microsoft Office PowerPoint</Application>
  <PresentationFormat>Widescreen</PresentationFormat>
  <Paragraphs>269</Paragraphs>
  <Slides>23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PRINCE KUMAR</cp:lastModifiedBy>
  <cp:revision>3</cp:revision>
  <dcterms:created xsi:type="dcterms:W3CDTF">2026-09-03T18:13:30Z</dcterms:created>
  <dcterms:modified xsi:type="dcterms:W3CDTF">2026-09-08T10:49:37Z</dcterms:modified>
</cp:coreProperties>
</file>